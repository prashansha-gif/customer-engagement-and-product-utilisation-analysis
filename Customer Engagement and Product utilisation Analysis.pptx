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4" r:id="rId7"/>
    <p:sldId id="261" r:id="rId8"/>
    <p:sldId id="262" r:id="rId9"/>
    <p:sldId id="263" r:id="rId10"/>
    <p:sldId id="265" r:id="rId11"/>
    <p:sldId id="266" r:id="rId12"/>
    <p:sldId id="267" r:id="rId13"/>
    <p:sldId id="268" r:id="rId14"/>
    <p:sldId id="270"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HANSHA KUMARI" userId="2bfce514d807fa9a" providerId="LiveId" clId="{02E14152-867D-43F2-BEB4-19486F6A91E9}"/>
    <pc:docChg chg="undo custSel addSld delSld modSld sldOrd">
      <pc:chgData name="PRASHANSHA KUMARI" userId="2bfce514d807fa9a" providerId="LiveId" clId="{02E14152-867D-43F2-BEB4-19486F6A91E9}" dt="2026-06-09T15:23:03.006" v="329" actId="1076"/>
      <pc:docMkLst>
        <pc:docMk/>
      </pc:docMkLst>
      <pc:sldChg chg="modSp mod">
        <pc:chgData name="PRASHANSHA KUMARI" userId="2bfce514d807fa9a" providerId="LiveId" clId="{02E14152-867D-43F2-BEB4-19486F6A91E9}" dt="2026-06-08T07:35:57.156" v="288" actId="20577"/>
        <pc:sldMkLst>
          <pc:docMk/>
          <pc:sldMk cId="3974303618" sldId="256"/>
        </pc:sldMkLst>
        <pc:spChg chg="mod">
          <ac:chgData name="PRASHANSHA KUMARI" userId="2bfce514d807fa9a" providerId="LiveId" clId="{02E14152-867D-43F2-BEB4-19486F6A91E9}" dt="2026-06-08T07:35:42.818" v="286"/>
          <ac:spMkLst>
            <pc:docMk/>
            <pc:sldMk cId="3974303618" sldId="256"/>
            <ac:spMk id="2" creationId="{F424145F-A16A-6FC7-CACF-C842D39DA3F0}"/>
          </ac:spMkLst>
        </pc:spChg>
        <pc:spChg chg="mod">
          <ac:chgData name="PRASHANSHA KUMARI" userId="2bfce514d807fa9a" providerId="LiveId" clId="{02E14152-867D-43F2-BEB4-19486F6A91E9}" dt="2026-06-08T07:35:57.156" v="288" actId="20577"/>
          <ac:spMkLst>
            <pc:docMk/>
            <pc:sldMk cId="3974303618" sldId="256"/>
            <ac:spMk id="3" creationId="{FCA57BC8-9293-4C3D-2208-E57802175189}"/>
          </ac:spMkLst>
        </pc:spChg>
      </pc:sldChg>
      <pc:sldChg chg="modSp mod">
        <pc:chgData name="PRASHANSHA KUMARI" userId="2bfce514d807fa9a" providerId="LiveId" clId="{02E14152-867D-43F2-BEB4-19486F6A91E9}" dt="2026-06-04T15:19:40.675" v="281" actId="1076"/>
        <pc:sldMkLst>
          <pc:docMk/>
          <pc:sldMk cId="2171713471" sldId="259"/>
        </pc:sldMkLst>
        <pc:spChg chg="mod">
          <ac:chgData name="PRASHANSHA KUMARI" userId="2bfce514d807fa9a" providerId="LiveId" clId="{02E14152-867D-43F2-BEB4-19486F6A91E9}" dt="2026-06-04T15:19:40.675" v="281" actId="1076"/>
          <ac:spMkLst>
            <pc:docMk/>
            <pc:sldMk cId="2171713471" sldId="259"/>
            <ac:spMk id="3" creationId="{E1247AD9-BE3C-7268-53B2-20300BBC2FD7}"/>
          </ac:spMkLst>
        </pc:spChg>
      </pc:sldChg>
      <pc:sldChg chg="addSp delSp modSp new mod">
        <pc:chgData name="PRASHANSHA KUMARI" userId="2bfce514d807fa9a" providerId="LiveId" clId="{02E14152-867D-43F2-BEB4-19486F6A91E9}" dt="2026-06-04T15:19:11.688" v="280" actId="13782"/>
        <pc:sldMkLst>
          <pc:docMk/>
          <pc:sldMk cId="2270063972" sldId="268"/>
        </pc:sldMkLst>
        <pc:spChg chg="mod">
          <ac:chgData name="PRASHANSHA KUMARI" userId="2bfce514d807fa9a" providerId="LiveId" clId="{02E14152-867D-43F2-BEB4-19486F6A91E9}" dt="2026-06-04T12:35:50.792" v="21" actId="14100"/>
          <ac:spMkLst>
            <pc:docMk/>
            <pc:sldMk cId="2270063972" sldId="268"/>
            <ac:spMk id="2" creationId="{FDD87E68-765E-551C-ECE2-ED2F6712B725}"/>
          </ac:spMkLst>
        </pc:spChg>
        <pc:graphicFrameChg chg="add mod modGraphic">
          <ac:chgData name="PRASHANSHA KUMARI" userId="2bfce514d807fa9a" providerId="LiveId" clId="{02E14152-867D-43F2-BEB4-19486F6A91E9}" dt="2026-06-04T15:19:11.688" v="280" actId="13782"/>
          <ac:graphicFrameMkLst>
            <pc:docMk/>
            <pc:sldMk cId="2270063972" sldId="268"/>
            <ac:graphicFrameMk id="5" creationId="{FAD0C580-9A60-74A7-4C33-A00902341910}"/>
          </ac:graphicFrameMkLst>
        </pc:graphicFrameChg>
      </pc:sldChg>
      <pc:sldChg chg="addSp delSp modSp new mod">
        <pc:chgData name="PRASHANSHA KUMARI" userId="2bfce514d807fa9a" providerId="LiveId" clId="{02E14152-867D-43F2-BEB4-19486F6A91E9}" dt="2026-06-04T15:07:08.471" v="219" actId="255"/>
        <pc:sldMkLst>
          <pc:docMk/>
          <pc:sldMk cId="83265589" sldId="269"/>
        </pc:sldMkLst>
        <pc:spChg chg="mod">
          <ac:chgData name="PRASHANSHA KUMARI" userId="2bfce514d807fa9a" providerId="LiveId" clId="{02E14152-867D-43F2-BEB4-19486F6A91E9}" dt="2026-06-04T12:40:15.452" v="129" actId="14100"/>
          <ac:spMkLst>
            <pc:docMk/>
            <pc:sldMk cId="83265589" sldId="269"/>
            <ac:spMk id="2" creationId="{916527AD-9874-2C28-DF76-502B028C255D}"/>
          </ac:spMkLst>
        </pc:spChg>
        <pc:graphicFrameChg chg="add mod modGraphic">
          <ac:chgData name="PRASHANSHA KUMARI" userId="2bfce514d807fa9a" providerId="LiveId" clId="{02E14152-867D-43F2-BEB4-19486F6A91E9}" dt="2026-06-04T15:07:08.471" v="219" actId="255"/>
          <ac:graphicFrameMkLst>
            <pc:docMk/>
            <pc:sldMk cId="83265589" sldId="269"/>
            <ac:graphicFrameMk id="5" creationId="{1829B8EC-63E3-C7AA-B7B9-9DE708E9CE80}"/>
          </ac:graphicFrameMkLst>
        </pc:graphicFrameChg>
      </pc:sldChg>
      <pc:sldChg chg="addSp delSp modSp new mod ord">
        <pc:chgData name="PRASHANSHA KUMARI" userId="2bfce514d807fa9a" providerId="LiveId" clId="{02E14152-867D-43F2-BEB4-19486F6A91E9}" dt="2026-06-09T15:23:03.006" v="329" actId="1076"/>
        <pc:sldMkLst>
          <pc:docMk/>
          <pc:sldMk cId="1337443071" sldId="270"/>
        </pc:sldMkLst>
        <pc:spChg chg="mod">
          <ac:chgData name="PRASHANSHA KUMARI" userId="2bfce514d807fa9a" providerId="LiveId" clId="{02E14152-867D-43F2-BEB4-19486F6A91E9}" dt="2026-06-09T15:03:08.185" v="316" actId="113"/>
          <ac:spMkLst>
            <pc:docMk/>
            <pc:sldMk cId="1337443071" sldId="270"/>
            <ac:spMk id="2" creationId="{EB6534AA-0F59-9078-8205-EE6A3361B419}"/>
          </ac:spMkLst>
        </pc:spChg>
        <pc:spChg chg="mod">
          <ac:chgData name="PRASHANSHA KUMARI" userId="2bfce514d807fa9a" providerId="LiveId" clId="{02E14152-867D-43F2-BEB4-19486F6A91E9}" dt="2026-06-09T15:23:03.006" v="329" actId="1076"/>
          <ac:spMkLst>
            <pc:docMk/>
            <pc:sldMk cId="1337443071" sldId="270"/>
            <ac:spMk id="3" creationId="{653CCC5F-9CC7-9CD7-ED7C-0F654584FEB0}"/>
          </ac:spMkLst>
        </pc:spChg>
        <pc:graphicFrameChg chg="add del modGraphic">
          <ac:chgData name="PRASHANSHA KUMARI" userId="2bfce514d807fa9a" providerId="LiveId" clId="{02E14152-867D-43F2-BEB4-19486F6A91E9}" dt="2026-06-09T15:22:50.410" v="328" actId="1032"/>
          <ac:graphicFrameMkLst>
            <pc:docMk/>
            <pc:sldMk cId="1337443071" sldId="270"/>
            <ac:graphicFrameMk id="4" creationId="{DC5BAE5A-AE8F-7F6B-79A7-68B28870251D}"/>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B377A6-790A-44F3-A2BC-CB42DE315395}"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IN"/>
        </a:p>
      </dgm:t>
    </dgm:pt>
    <dgm:pt modelId="{1E619989-F9EF-4EA1-9CC6-4D6B53527EE1}">
      <dgm:prSet phldrT="[Text]" phldr="0"/>
      <dgm:spPr>
        <a:solidFill>
          <a:schemeClr val="tx2">
            <a:lumMod val="25000"/>
            <a:alpha val="90000"/>
          </a:schemeClr>
        </a:solidFill>
      </dgm:spPr>
      <dgm:t>
        <a:bodyPr/>
        <a:lstStyle/>
        <a:p>
          <a:r>
            <a:rPr lang="en-US" dirty="0"/>
            <a:t>Data Validation</a:t>
          </a:r>
          <a:endParaRPr lang="en-IN" dirty="0"/>
        </a:p>
      </dgm:t>
    </dgm:pt>
    <dgm:pt modelId="{D1C15131-7C00-45FC-A1BF-749C3B5CCB8E}" type="parTrans" cxnId="{5D7E3DEB-BF67-41F9-A0AA-482B206EAF98}">
      <dgm:prSet/>
      <dgm:spPr/>
      <dgm:t>
        <a:bodyPr/>
        <a:lstStyle/>
        <a:p>
          <a:endParaRPr lang="en-IN"/>
        </a:p>
      </dgm:t>
    </dgm:pt>
    <dgm:pt modelId="{8D6F3BB4-F773-41C5-8A66-1A113B1BA235}" type="sibTrans" cxnId="{5D7E3DEB-BF67-41F9-A0AA-482B206EAF98}">
      <dgm:prSet/>
      <dgm:spPr/>
      <dgm:t>
        <a:bodyPr/>
        <a:lstStyle/>
        <a:p>
          <a:endParaRPr lang="en-IN"/>
        </a:p>
      </dgm:t>
    </dgm:pt>
    <dgm:pt modelId="{DCBB0F40-067A-429A-8630-019F97D71351}">
      <dgm:prSet phldrT="[Text]" phldr="0"/>
      <dgm:spPr>
        <a:solidFill>
          <a:schemeClr val="tx2">
            <a:lumMod val="25000"/>
          </a:schemeClr>
        </a:solidFill>
      </dgm:spPr>
      <dgm:t>
        <a:bodyPr/>
        <a:lstStyle/>
        <a:p>
          <a:r>
            <a:rPr lang="en-US" dirty="0"/>
            <a:t>Customer Segmentation</a:t>
          </a:r>
          <a:endParaRPr lang="en-IN" dirty="0"/>
        </a:p>
      </dgm:t>
    </dgm:pt>
    <dgm:pt modelId="{ED39A5EF-52ED-497A-A232-A762B1C38E6A}" type="parTrans" cxnId="{0312DFEE-3DAC-4730-A765-73FC445F22A5}">
      <dgm:prSet/>
      <dgm:spPr/>
      <dgm:t>
        <a:bodyPr/>
        <a:lstStyle/>
        <a:p>
          <a:endParaRPr lang="en-IN"/>
        </a:p>
      </dgm:t>
    </dgm:pt>
    <dgm:pt modelId="{6D4ACC93-8887-47F6-96C0-AA9498436556}" type="sibTrans" cxnId="{0312DFEE-3DAC-4730-A765-73FC445F22A5}">
      <dgm:prSet/>
      <dgm:spPr/>
      <dgm:t>
        <a:bodyPr/>
        <a:lstStyle/>
        <a:p>
          <a:endParaRPr lang="en-IN"/>
        </a:p>
      </dgm:t>
    </dgm:pt>
    <dgm:pt modelId="{F82D12C2-EFA8-42D5-93D7-04A8E7B5A1F4}">
      <dgm:prSet phldrT="[Text]" phldr="0"/>
      <dgm:spPr>
        <a:solidFill>
          <a:schemeClr val="tx2">
            <a:lumMod val="25000"/>
          </a:schemeClr>
        </a:solidFill>
      </dgm:spPr>
      <dgm:t>
        <a:bodyPr/>
        <a:lstStyle/>
        <a:p>
          <a:r>
            <a:rPr lang="en-US" dirty="0"/>
            <a:t>Excel Analysis</a:t>
          </a:r>
          <a:endParaRPr lang="en-IN" dirty="0"/>
        </a:p>
      </dgm:t>
    </dgm:pt>
    <dgm:pt modelId="{258A4B2F-AC60-4895-B3CA-A00E2C03F931}" type="parTrans" cxnId="{9BD519FF-D54F-4DB4-BA7E-873AB906A2EF}">
      <dgm:prSet/>
      <dgm:spPr/>
      <dgm:t>
        <a:bodyPr/>
        <a:lstStyle/>
        <a:p>
          <a:endParaRPr lang="en-IN"/>
        </a:p>
      </dgm:t>
    </dgm:pt>
    <dgm:pt modelId="{C2314ECF-1B82-4EBF-84A8-56959465DD34}" type="sibTrans" cxnId="{9BD519FF-D54F-4DB4-BA7E-873AB906A2EF}">
      <dgm:prSet/>
      <dgm:spPr/>
      <dgm:t>
        <a:bodyPr/>
        <a:lstStyle/>
        <a:p>
          <a:endParaRPr lang="en-IN"/>
        </a:p>
      </dgm:t>
    </dgm:pt>
    <dgm:pt modelId="{126F0462-2ADE-46D1-A18B-8F786D9D4FA5}">
      <dgm:prSet phldrT="[Text]" phldr="0"/>
      <dgm:spPr>
        <a:solidFill>
          <a:schemeClr val="tx2">
            <a:lumMod val="25000"/>
            <a:alpha val="90000"/>
          </a:schemeClr>
        </a:solidFill>
      </dgm:spPr>
      <dgm:t>
        <a:bodyPr/>
        <a:lstStyle/>
        <a:p>
          <a:r>
            <a:rPr lang="en-US"/>
            <a:t>SQL Analysis</a:t>
          </a:r>
          <a:endParaRPr lang="en-IN" dirty="0"/>
        </a:p>
      </dgm:t>
    </dgm:pt>
    <dgm:pt modelId="{722440D9-31E5-48BC-8ED7-0DC53063372B}" type="parTrans" cxnId="{84FC7515-A7AA-47E9-A35A-4EE0F2631599}">
      <dgm:prSet/>
      <dgm:spPr/>
      <dgm:t>
        <a:bodyPr/>
        <a:lstStyle/>
        <a:p>
          <a:endParaRPr lang="en-IN"/>
        </a:p>
      </dgm:t>
    </dgm:pt>
    <dgm:pt modelId="{1615BF79-FC94-49C7-9C86-6CB7EDCFF5A3}" type="sibTrans" cxnId="{84FC7515-A7AA-47E9-A35A-4EE0F2631599}">
      <dgm:prSet/>
      <dgm:spPr/>
      <dgm:t>
        <a:bodyPr/>
        <a:lstStyle/>
        <a:p>
          <a:endParaRPr lang="en-IN"/>
        </a:p>
      </dgm:t>
    </dgm:pt>
    <dgm:pt modelId="{6F29B00F-5647-4E94-9F7E-2CAC49B6849E}">
      <dgm:prSet phldrT="[Text]" phldr="0"/>
      <dgm:spPr>
        <a:solidFill>
          <a:schemeClr val="tx2">
            <a:lumMod val="25000"/>
            <a:alpha val="90000"/>
          </a:schemeClr>
        </a:solidFill>
      </dgm:spPr>
      <dgm:t>
        <a:bodyPr/>
        <a:lstStyle/>
        <a:p>
          <a:r>
            <a:rPr lang="en-US" dirty="0"/>
            <a:t>Dashboard Development</a:t>
          </a:r>
          <a:endParaRPr lang="en-IN" dirty="0"/>
        </a:p>
      </dgm:t>
    </dgm:pt>
    <dgm:pt modelId="{A6AF4FED-3577-44EB-B732-029FF9F28DE5}" type="parTrans" cxnId="{F79DFD12-9DE8-4B66-891E-0F24D03F5723}">
      <dgm:prSet/>
      <dgm:spPr/>
      <dgm:t>
        <a:bodyPr/>
        <a:lstStyle/>
        <a:p>
          <a:endParaRPr lang="en-IN"/>
        </a:p>
      </dgm:t>
    </dgm:pt>
    <dgm:pt modelId="{69244423-90AB-4786-8D63-CEC98572BC22}" type="sibTrans" cxnId="{F79DFD12-9DE8-4B66-891E-0F24D03F5723}">
      <dgm:prSet/>
      <dgm:spPr/>
      <dgm:t>
        <a:bodyPr/>
        <a:lstStyle/>
        <a:p>
          <a:endParaRPr lang="en-IN"/>
        </a:p>
      </dgm:t>
    </dgm:pt>
    <dgm:pt modelId="{20C0FAEF-89BD-4DD9-B122-9E16DB07CB93}" type="pres">
      <dgm:prSet presAssocID="{92B377A6-790A-44F3-A2BC-CB42DE315395}" presName="Name0" presStyleCnt="0">
        <dgm:presLayoutVars>
          <dgm:dir/>
          <dgm:resizeHandles val="exact"/>
        </dgm:presLayoutVars>
      </dgm:prSet>
      <dgm:spPr/>
    </dgm:pt>
    <dgm:pt modelId="{146A9ED4-2281-480C-98D1-CBD60292BDDF}" type="pres">
      <dgm:prSet presAssocID="{1E619989-F9EF-4EA1-9CC6-4D6B53527EE1}" presName="node" presStyleLbl="node1" presStyleIdx="0" presStyleCnt="5">
        <dgm:presLayoutVars>
          <dgm:bulletEnabled val="1"/>
        </dgm:presLayoutVars>
      </dgm:prSet>
      <dgm:spPr/>
    </dgm:pt>
    <dgm:pt modelId="{28AB2749-F608-49CE-86E5-8FDE1F938AFA}" type="pres">
      <dgm:prSet presAssocID="{8D6F3BB4-F773-41C5-8A66-1A113B1BA235}" presName="sibTrans" presStyleLbl="sibTrans1D1" presStyleIdx="0" presStyleCnt="4"/>
      <dgm:spPr/>
    </dgm:pt>
    <dgm:pt modelId="{819EEE8D-9486-4DEE-A007-D01A1BCBB84A}" type="pres">
      <dgm:prSet presAssocID="{8D6F3BB4-F773-41C5-8A66-1A113B1BA235}" presName="connectorText" presStyleLbl="sibTrans1D1" presStyleIdx="0" presStyleCnt="4"/>
      <dgm:spPr/>
    </dgm:pt>
    <dgm:pt modelId="{68AFE9E8-93F8-43B9-A413-9BE3D9FB117B}" type="pres">
      <dgm:prSet presAssocID="{DCBB0F40-067A-429A-8630-019F97D71351}" presName="node" presStyleLbl="node1" presStyleIdx="1" presStyleCnt="5">
        <dgm:presLayoutVars>
          <dgm:bulletEnabled val="1"/>
        </dgm:presLayoutVars>
      </dgm:prSet>
      <dgm:spPr/>
    </dgm:pt>
    <dgm:pt modelId="{9BD49460-E035-43CC-8E74-9CE2A133FB8C}" type="pres">
      <dgm:prSet presAssocID="{6D4ACC93-8887-47F6-96C0-AA9498436556}" presName="sibTrans" presStyleLbl="sibTrans1D1" presStyleIdx="1" presStyleCnt="4"/>
      <dgm:spPr/>
    </dgm:pt>
    <dgm:pt modelId="{4FE24B62-A2F1-492E-9ADF-6AACD3481EF4}" type="pres">
      <dgm:prSet presAssocID="{6D4ACC93-8887-47F6-96C0-AA9498436556}" presName="connectorText" presStyleLbl="sibTrans1D1" presStyleIdx="1" presStyleCnt="4"/>
      <dgm:spPr/>
    </dgm:pt>
    <dgm:pt modelId="{4E2819D0-B719-42A1-8A51-0EC8E3F3180A}" type="pres">
      <dgm:prSet presAssocID="{F82D12C2-EFA8-42D5-93D7-04A8E7B5A1F4}" presName="node" presStyleLbl="node1" presStyleIdx="2" presStyleCnt="5">
        <dgm:presLayoutVars>
          <dgm:bulletEnabled val="1"/>
        </dgm:presLayoutVars>
      </dgm:prSet>
      <dgm:spPr/>
    </dgm:pt>
    <dgm:pt modelId="{310F61A9-772D-4101-90B5-3741AD38E9BF}" type="pres">
      <dgm:prSet presAssocID="{C2314ECF-1B82-4EBF-84A8-56959465DD34}" presName="sibTrans" presStyleLbl="sibTrans1D1" presStyleIdx="2" presStyleCnt="4"/>
      <dgm:spPr/>
    </dgm:pt>
    <dgm:pt modelId="{D780A9A0-DF75-44B8-B598-A44B085CB56A}" type="pres">
      <dgm:prSet presAssocID="{C2314ECF-1B82-4EBF-84A8-56959465DD34}" presName="connectorText" presStyleLbl="sibTrans1D1" presStyleIdx="2" presStyleCnt="4"/>
      <dgm:spPr/>
    </dgm:pt>
    <dgm:pt modelId="{0882D56C-9E72-4ABA-AA8F-E532E7BCC6EF}" type="pres">
      <dgm:prSet presAssocID="{126F0462-2ADE-46D1-A18B-8F786D9D4FA5}" presName="node" presStyleLbl="node1" presStyleIdx="3" presStyleCnt="5">
        <dgm:presLayoutVars>
          <dgm:bulletEnabled val="1"/>
        </dgm:presLayoutVars>
      </dgm:prSet>
      <dgm:spPr/>
    </dgm:pt>
    <dgm:pt modelId="{E1C6D2C8-4BBF-4065-A989-17179BD602F3}" type="pres">
      <dgm:prSet presAssocID="{1615BF79-FC94-49C7-9C86-6CB7EDCFF5A3}" presName="sibTrans" presStyleLbl="sibTrans1D1" presStyleIdx="3" presStyleCnt="4"/>
      <dgm:spPr/>
    </dgm:pt>
    <dgm:pt modelId="{BEEBB62C-DA16-4421-BAA7-E0D2EF3CC55E}" type="pres">
      <dgm:prSet presAssocID="{1615BF79-FC94-49C7-9C86-6CB7EDCFF5A3}" presName="connectorText" presStyleLbl="sibTrans1D1" presStyleIdx="3" presStyleCnt="4"/>
      <dgm:spPr/>
    </dgm:pt>
    <dgm:pt modelId="{BB84FBE2-EDBA-4B3B-9639-97E27524E7BF}" type="pres">
      <dgm:prSet presAssocID="{6F29B00F-5647-4E94-9F7E-2CAC49B6849E}" presName="node" presStyleLbl="node1" presStyleIdx="4" presStyleCnt="5">
        <dgm:presLayoutVars>
          <dgm:bulletEnabled val="1"/>
        </dgm:presLayoutVars>
      </dgm:prSet>
      <dgm:spPr/>
    </dgm:pt>
  </dgm:ptLst>
  <dgm:cxnLst>
    <dgm:cxn modelId="{FC8E5210-3208-472D-B2FF-654230BC0190}" type="presOf" srcId="{6D4ACC93-8887-47F6-96C0-AA9498436556}" destId="{4FE24B62-A2F1-492E-9ADF-6AACD3481EF4}" srcOrd="1" destOrd="0" presId="urn:microsoft.com/office/officeart/2005/8/layout/bProcess3"/>
    <dgm:cxn modelId="{F79DFD12-9DE8-4B66-891E-0F24D03F5723}" srcId="{92B377A6-790A-44F3-A2BC-CB42DE315395}" destId="{6F29B00F-5647-4E94-9F7E-2CAC49B6849E}" srcOrd="4" destOrd="0" parTransId="{A6AF4FED-3577-44EB-B732-029FF9F28DE5}" sibTransId="{69244423-90AB-4786-8D63-CEC98572BC22}"/>
    <dgm:cxn modelId="{84FC7515-A7AA-47E9-A35A-4EE0F2631599}" srcId="{92B377A6-790A-44F3-A2BC-CB42DE315395}" destId="{126F0462-2ADE-46D1-A18B-8F786D9D4FA5}" srcOrd="3" destOrd="0" parTransId="{722440D9-31E5-48BC-8ED7-0DC53063372B}" sibTransId="{1615BF79-FC94-49C7-9C86-6CB7EDCFF5A3}"/>
    <dgm:cxn modelId="{CE2DFE28-3D72-4ED1-84DE-014722BCE022}" type="presOf" srcId="{92B377A6-790A-44F3-A2BC-CB42DE315395}" destId="{20C0FAEF-89BD-4DD9-B122-9E16DB07CB93}" srcOrd="0" destOrd="0" presId="urn:microsoft.com/office/officeart/2005/8/layout/bProcess3"/>
    <dgm:cxn modelId="{62177A3A-CAC0-41AF-9CDF-08BD6B5B8F9E}" type="presOf" srcId="{1E619989-F9EF-4EA1-9CC6-4D6B53527EE1}" destId="{146A9ED4-2281-480C-98D1-CBD60292BDDF}" srcOrd="0" destOrd="0" presId="urn:microsoft.com/office/officeart/2005/8/layout/bProcess3"/>
    <dgm:cxn modelId="{84885276-702A-4088-99F3-543E84EA133B}" type="presOf" srcId="{C2314ECF-1B82-4EBF-84A8-56959465DD34}" destId="{310F61A9-772D-4101-90B5-3741AD38E9BF}" srcOrd="0" destOrd="0" presId="urn:microsoft.com/office/officeart/2005/8/layout/bProcess3"/>
    <dgm:cxn modelId="{0BAA0E79-0C58-4876-A3F4-293A361AAD7C}" type="presOf" srcId="{6D4ACC93-8887-47F6-96C0-AA9498436556}" destId="{9BD49460-E035-43CC-8E74-9CE2A133FB8C}" srcOrd="0" destOrd="0" presId="urn:microsoft.com/office/officeart/2005/8/layout/bProcess3"/>
    <dgm:cxn modelId="{AD03EE8A-D2B8-4942-BFAA-0E82A7499043}" type="presOf" srcId="{F82D12C2-EFA8-42D5-93D7-04A8E7B5A1F4}" destId="{4E2819D0-B719-42A1-8A51-0EC8E3F3180A}" srcOrd="0" destOrd="0" presId="urn:microsoft.com/office/officeart/2005/8/layout/bProcess3"/>
    <dgm:cxn modelId="{6F85E991-8835-4ABF-AB9B-60E6ED4DC556}" type="presOf" srcId="{126F0462-2ADE-46D1-A18B-8F786D9D4FA5}" destId="{0882D56C-9E72-4ABA-AA8F-E532E7BCC6EF}" srcOrd="0" destOrd="0" presId="urn:microsoft.com/office/officeart/2005/8/layout/bProcess3"/>
    <dgm:cxn modelId="{5AE4BFAB-E69C-4EB7-9D4D-A4FEFE76FDE6}" type="presOf" srcId="{1615BF79-FC94-49C7-9C86-6CB7EDCFF5A3}" destId="{BEEBB62C-DA16-4421-BAA7-E0D2EF3CC55E}" srcOrd="1" destOrd="0" presId="urn:microsoft.com/office/officeart/2005/8/layout/bProcess3"/>
    <dgm:cxn modelId="{5F439DC4-92CA-437A-8686-4B7DE85C360E}" type="presOf" srcId="{8D6F3BB4-F773-41C5-8A66-1A113B1BA235}" destId="{819EEE8D-9486-4DEE-A007-D01A1BCBB84A}" srcOrd="1" destOrd="0" presId="urn:microsoft.com/office/officeart/2005/8/layout/bProcess3"/>
    <dgm:cxn modelId="{C09F0EE6-EDC3-430B-AA5B-EA3D2C321DBF}" type="presOf" srcId="{8D6F3BB4-F773-41C5-8A66-1A113B1BA235}" destId="{28AB2749-F608-49CE-86E5-8FDE1F938AFA}" srcOrd="0" destOrd="0" presId="urn:microsoft.com/office/officeart/2005/8/layout/bProcess3"/>
    <dgm:cxn modelId="{5D7E3DEB-BF67-41F9-A0AA-482B206EAF98}" srcId="{92B377A6-790A-44F3-A2BC-CB42DE315395}" destId="{1E619989-F9EF-4EA1-9CC6-4D6B53527EE1}" srcOrd="0" destOrd="0" parTransId="{D1C15131-7C00-45FC-A1BF-749C3B5CCB8E}" sibTransId="{8D6F3BB4-F773-41C5-8A66-1A113B1BA235}"/>
    <dgm:cxn modelId="{663C26EC-1CF5-4876-B98B-C152ED44BA18}" type="presOf" srcId="{1615BF79-FC94-49C7-9C86-6CB7EDCFF5A3}" destId="{E1C6D2C8-4BBF-4065-A989-17179BD602F3}" srcOrd="0" destOrd="0" presId="urn:microsoft.com/office/officeart/2005/8/layout/bProcess3"/>
    <dgm:cxn modelId="{0312DFEE-3DAC-4730-A765-73FC445F22A5}" srcId="{92B377A6-790A-44F3-A2BC-CB42DE315395}" destId="{DCBB0F40-067A-429A-8630-019F97D71351}" srcOrd="1" destOrd="0" parTransId="{ED39A5EF-52ED-497A-A232-A762B1C38E6A}" sibTransId="{6D4ACC93-8887-47F6-96C0-AA9498436556}"/>
    <dgm:cxn modelId="{67DF9BFA-C693-43D9-A127-0C8C6A73FAF5}" type="presOf" srcId="{6F29B00F-5647-4E94-9F7E-2CAC49B6849E}" destId="{BB84FBE2-EDBA-4B3B-9639-97E27524E7BF}" srcOrd="0" destOrd="0" presId="urn:microsoft.com/office/officeart/2005/8/layout/bProcess3"/>
    <dgm:cxn modelId="{5B82D9FA-9C8B-44FB-9D47-BA6363A4D976}" type="presOf" srcId="{DCBB0F40-067A-429A-8630-019F97D71351}" destId="{68AFE9E8-93F8-43B9-A413-9BE3D9FB117B}" srcOrd="0" destOrd="0" presId="urn:microsoft.com/office/officeart/2005/8/layout/bProcess3"/>
    <dgm:cxn modelId="{6A1384FC-211D-49C2-9FE2-6180694E28F8}" type="presOf" srcId="{C2314ECF-1B82-4EBF-84A8-56959465DD34}" destId="{D780A9A0-DF75-44B8-B598-A44B085CB56A}" srcOrd="1" destOrd="0" presId="urn:microsoft.com/office/officeart/2005/8/layout/bProcess3"/>
    <dgm:cxn modelId="{9BD519FF-D54F-4DB4-BA7E-873AB906A2EF}" srcId="{92B377A6-790A-44F3-A2BC-CB42DE315395}" destId="{F82D12C2-EFA8-42D5-93D7-04A8E7B5A1F4}" srcOrd="2" destOrd="0" parTransId="{258A4B2F-AC60-4895-B3CA-A00E2C03F931}" sibTransId="{C2314ECF-1B82-4EBF-84A8-56959465DD34}"/>
    <dgm:cxn modelId="{282FDD6B-A165-4778-8D84-B05ADC07FD53}" type="presParOf" srcId="{20C0FAEF-89BD-4DD9-B122-9E16DB07CB93}" destId="{146A9ED4-2281-480C-98D1-CBD60292BDDF}" srcOrd="0" destOrd="0" presId="urn:microsoft.com/office/officeart/2005/8/layout/bProcess3"/>
    <dgm:cxn modelId="{66DB059A-80CB-4805-8FF0-4D84B2FDB0C5}" type="presParOf" srcId="{20C0FAEF-89BD-4DD9-B122-9E16DB07CB93}" destId="{28AB2749-F608-49CE-86E5-8FDE1F938AFA}" srcOrd="1" destOrd="0" presId="urn:microsoft.com/office/officeart/2005/8/layout/bProcess3"/>
    <dgm:cxn modelId="{748985B8-F0FD-4B74-A388-96EEE9CDBA47}" type="presParOf" srcId="{28AB2749-F608-49CE-86E5-8FDE1F938AFA}" destId="{819EEE8D-9486-4DEE-A007-D01A1BCBB84A}" srcOrd="0" destOrd="0" presId="urn:microsoft.com/office/officeart/2005/8/layout/bProcess3"/>
    <dgm:cxn modelId="{C47FCCE1-4CA6-4647-9F28-C130985D3298}" type="presParOf" srcId="{20C0FAEF-89BD-4DD9-B122-9E16DB07CB93}" destId="{68AFE9E8-93F8-43B9-A413-9BE3D9FB117B}" srcOrd="2" destOrd="0" presId="urn:microsoft.com/office/officeart/2005/8/layout/bProcess3"/>
    <dgm:cxn modelId="{57D5258D-C4DA-4046-BCB0-2CB1C51335C0}" type="presParOf" srcId="{20C0FAEF-89BD-4DD9-B122-9E16DB07CB93}" destId="{9BD49460-E035-43CC-8E74-9CE2A133FB8C}" srcOrd="3" destOrd="0" presId="urn:microsoft.com/office/officeart/2005/8/layout/bProcess3"/>
    <dgm:cxn modelId="{D867219F-A744-4637-B676-EB3D85F09FAC}" type="presParOf" srcId="{9BD49460-E035-43CC-8E74-9CE2A133FB8C}" destId="{4FE24B62-A2F1-492E-9ADF-6AACD3481EF4}" srcOrd="0" destOrd="0" presId="urn:microsoft.com/office/officeart/2005/8/layout/bProcess3"/>
    <dgm:cxn modelId="{6F326649-BB44-4FBB-B7E2-04BF308EE9BC}" type="presParOf" srcId="{20C0FAEF-89BD-4DD9-B122-9E16DB07CB93}" destId="{4E2819D0-B719-42A1-8A51-0EC8E3F3180A}" srcOrd="4" destOrd="0" presId="urn:microsoft.com/office/officeart/2005/8/layout/bProcess3"/>
    <dgm:cxn modelId="{68565DA3-B11C-4788-88F1-A984913E3667}" type="presParOf" srcId="{20C0FAEF-89BD-4DD9-B122-9E16DB07CB93}" destId="{310F61A9-772D-4101-90B5-3741AD38E9BF}" srcOrd="5" destOrd="0" presId="urn:microsoft.com/office/officeart/2005/8/layout/bProcess3"/>
    <dgm:cxn modelId="{D1F23BD5-A3B6-488F-93F1-6DD44FBC9168}" type="presParOf" srcId="{310F61A9-772D-4101-90B5-3741AD38E9BF}" destId="{D780A9A0-DF75-44B8-B598-A44B085CB56A}" srcOrd="0" destOrd="0" presId="urn:microsoft.com/office/officeart/2005/8/layout/bProcess3"/>
    <dgm:cxn modelId="{FE9080B8-9378-4E1F-92F7-36A39DB45817}" type="presParOf" srcId="{20C0FAEF-89BD-4DD9-B122-9E16DB07CB93}" destId="{0882D56C-9E72-4ABA-AA8F-E532E7BCC6EF}" srcOrd="6" destOrd="0" presId="urn:microsoft.com/office/officeart/2005/8/layout/bProcess3"/>
    <dgm:cxn modelId="{5FFBF22F-A57E-4768-80A4-78957694193A}" type="presParOf" srcId="{20C0FAEF-89BD-4DD9-B122-9E16DB07CB93}" destId="{E1C6D2C8-4BBF-4065-A989-17179BD602F3}" srcOrd="7" destOrd="0" presId="urn:microsoft.com/office/officeart/2005/8/layout/bProcess3"/>
    <dgm:cxn modelId="{5E4F3308-EB2D-4F5B-A11B-19E985C2B474}" type="presParOf" srcId="{E1C6D2C8-4BBF-4065-A989-17179BD602F3}" destId="{BEEBB62C-DA16-4421-BAA7-E0D2EF3CC55E}" srcOrd="0" destOrd="0" presId="urn:microsoft.com/office/officeart/2005/8/layout/bProcess3"/>
    <dgm:cxn modelId="{7CFD51FF-3E75-457F-9226-2F136DC9941F}" type="presParOf" srcId="{20C0FAEF-89BD-4DD9-B122-9E16DB07CB93}" destId="{BB84FBE2-EDBA-4B3B-9639-97E27524E7BF}" srcOrd="8"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048938-44C3-469C-B379-4F4870B22B2E}"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IN"/>
        </a:p>
      </dgm:t>
    </dgm:pt>
    <dgm:pt modelId="{7017C569-089D-469B-8C85-D22F7C56CF8E}">
      <dgm:prSet phldrT="[Text]" phldr="0"/>
      <dgm:spPr/>
      <dgm:t>
        <a:bodyPr/>
        <a:lstStyle/>
        <a:p>
          <a:r>
            <a:rPr lang="en-US" dirty="0"/>
            <a:t>1.</a:t>
          </a:r>
          <a:endParaRPr lang="en-IN" dirty="0"/>
        </a:p>
      </dgm:t>
    </dgm:pt>
    <dgm:pt modelId="{65DF0B8D-4559-4574-8C73-DE6C0060F9A7}" type="parTrans" cxnId="{BE21888C-134A-4078-9289-120E3591E758}">
      <dgm:prSet/>
      <dgm:spPr/>
      <dgm:t>
        <a:bodyPr/>
        <a:lstStyle/>
        <a:p>
          <a:endParaRPr lang="en-IN"/>
        </a:p>
      </dgm:t>
    </dgm:pt>
    <dgm:pt modelId="{40B15477-FB3F-4D91-934E-B335E5785C67}" type="sibTrans" cxnId="{BE21888C-134A-4078-9289-120E3591E758}">
      <dgm:prSet/>
      <dgm:spPr/>
      <dgm:t>
        <a:bodyPr/>
        <a:lstStyle/>
        <a:p>
          <a:endParaRPr lang="en-IN"/>
        </a:p>
      </dgm:t>
    </dgm:pt>
    <dgm:pt modelId="{57EB2D63-086F-44BD-B0BE-07AC63A5E38F}">
      <dgm:prSet phldrT="[Text]" custT="1"/>
      <dgm:spPr/>
      <dgm:t>
        <a:bodyPr/>
        <a:lstStyle/>
        <a:p>
          <a:pPr>
            <a:buSzPct val="100000"/>
            <a:buFont typeface="Wingdings" panose="05000000000000000000" pitchFamily="2" charset="2"/>
            <a:buChar char="v"/>
          </a:pPr>
          <a:r>
            <a:rPr lang="en-US" sz="2000" b="0" dirty="0">
              <a:ln/>
              <a:solidFill>
                <a:schemeClr val="bg2"/>
              </a:solidFill>
              <a:latin typeface="Roboto" pitchFamily="34" charset="0"/>
              <a:ea typeface="Roboto" pitchFamily="34" charset="-122"/>
              <a:cs typeface="Roboto" pitchFamily="34" charset="-120"/>
            </a:rPr>
            <a:t>20.37% overall churn — 1 in 5 customers lost</a:t>
          </a:r>
          <a:endParaRPr lang="en-IN" sz="2000" b="0" dirty="0">
            <a:solidFill>
              <a:schemeClr val="bg2"/>
            </a:solidFill>
          </a:endParaRPr>
        </a:p>
      </dgm:t>
    </dgm:pt>
    <dgm:pt modelId="{4E2719B6-E7B8-49D0-BF8D-D5439C2E06BD}" type="parTrans" cxnId="{E8A2A1B1-76F5-4B36-BA9E-C1405B8D717D}">
      <dgm:prSet/>
      <dgm:spPr/>
      <dgm:t>
        <a:bodyPr/>
        <a:lstStyle/>
        <a:p>
          <a:endParaRPr lang="en-IN"/>
        </a:p>
      </dgm:t>
    </dgm:pt>
    <dgm:pt modelId="{C28234A0-1621-4E37-B82B-7474FD7CA4B2}" type="sibTrans" cxnId="{E8A2A1B1-76F5-4B36-BA9E-C1405B8D717D}">
      <dgm:prSet/>
      <dgm:spPr/>
      <dgm:t>
        <a:bodyPr/>
        <a:lstStyle/>
        <a:p>
          <a:endParaRPr lang="en-IN"/>
        </a:p>
      </dgm:t>
    </dgm:pt>
    <dgm:pt modelId="{7B353D8B-F5C8-48EE-AF0E-1910A39B3612}">
      <dgm:prSet phldrT="[Text]" phldr="0"/>
      <dgm:spPr/>
      <dgm:t>
        <a:bodyPr/>
        <a:lstStyle/>
        <a:p>
          <a:r>
            <a:rPr lang="en-US" dirty="0"/>
            <a:t>2.</a:t>
          </a:r>
          <a:endParaRPr lang="en-IN" dirty="0"/>
        </a:p>
      </dgm:t>
    </dgm:pt>
    <dgm:pt modelId="{7E6943B9-8ECE-4B00-936D-0B8163E8812A}" type="parTrans" cxnId="{932DE00D-5F34-441E-B09E-60B1710D9005}">
      <dgm:prSet/>
      <dgm:spPr/>
      <dgm:t>
        <a:bodyPr/>
        <a:lstStyle/>
        <a:p>
          <a:endParaRPr lang="en-IN"/>
        </a:p>
      </dgm:t>
    </dgm:pt>
    <dgm:pt modelId="{3B775EA3-EF8E-4B5E-BC78-DE3F30DAAA5E}" type="sibTrans" cxnId="{932DE00D-5F34-441E-B09E-60B1710D9005}">
      <dgm:prSet/>
      <dgm:spPr/>
      <dgm:t>
        <a:bodyPr/>
        <a:lstStyle/>
        <a:p>
          <a:endParaRPr lang="en-IN"/>
        </a:p>
      </dgm:t>
    </dgm:pt>
    <dgm:pt modelId="{0335090A-9CC0-4179-95EB-CAE47283C04B}">
      <dgm:prSet phldrT="[Text]" custT="1"/>
      <dgm:spPr/>
      <dgm:t>
        <a:bodyPr/>
        <a:lstStyle/>
        <a:p>
          <a:pPr>
            <a:buSzPct val="100000"/>
            <a:buFont typeface="Wingdings" panose="05000000000000000000" pitchFamily="2" charset="2"/>
            <a:buChar char="v"/>
          </a:pPr>
          <a:r>
            <a:rPr lang="en-US" sz="2000" b="0" dirty="0">
              <a:ln/>
              <a:solidFill>
                <a:schemeClr val="bg2"/>
              </a:solidFill>
              <a:latin typeface="Roboto" pitchFamily="34" charset="0"/>
              <a:ea typeface="Roboto" pitchFamily="34" charset="-122"/>
              <a:cs typeface="Roboto" pitchFamily="34" charset="-120"/>
            </a:rPr>
            <a:t>Inactive customers: 1,302 churned vs. 735 active</a:t>
          </a:r>
          <a:endParaRPr lang="en-IN" sz="2000" b="0" dirty="0">
            <a:solidFill>
              <a:schemeClr val="bg2"/>
            </a:solidFill>
          </a:endParaRPr>
        </a:p>
      </dgm:t>
    </dgm:pt>
    <dgm:pt modelId="{4E28C9B3-6EA9-4A04-A38F-5EFDF938DB70}" type="parTrans" cxnId="{2DCE81C6-F253-478A-B932-F799D852DCF1}">
      <dgm:prSet/>
      <dgm:spPr/>
      <dgm:t>
        <a:bodyPr/>
        <a:lstStyle/>
        <a:p>
          <a:endParaRPr lang="en-IN"/>
        </a:p>
      </dgm:t>
    </dgm:pt>
    <dgm:pt modelId="{2234C049-25CC-4368-A33F-810E661E42FA}" type="sibTrans" cxnId="{2DCE81C6-F253-478A-B932-F799D852DCF1}">
      <dgm:prSet/>
      <dgm:spPr/>
      <dgm:t>
        <a:bodyPr/>
        <a:lstStyle/>
        <a:p>
          <a:endParaRPr lang="en-IN"/>
        </a:p>
      </dgm:t>
    </dgm:pt>
    <dgm:pt modelId="{1D719D66-78E1-4156-B812-23D809FB4E98}">
      <dgm:prSet phldrT="[Text]" phldr="0"/>
      <dgm:spPr/>
      <dgm:t>
        <a:bodyPr/>
        <a:lstStyle/>
        <a:p>
          <a:r>
            <a:rPr lang="en-US" dirty="0"/>
            <a:t>3.</a:t>
          </a:r>
          <a:endParaRPr lang="en-IN" dirty="0"/>
        </a:p>
      </dgm:t>
    </dgm:pt>
    <dgm:pt modelId="{BF9242E8-08B1-426F-81DF-CB3D4E399CFE}" type="parTrans" cxnId="{87375905-BE6B-47FE-BCC7-2ACE4DA668CF}">
      <dgm:prSet/>
      <dgm:spPr/>
      <dgm:t>
        <a:bodyPr/>
        <a:lstStyle/>
        <a:p>
          <a:endParaRPr lang="en-IN"/>
        </a:p>
      </dgm:t>
    </dgm:pt>
    <dgm:pt modelId="{82B8B7FB-D5CA-4AB4-B893-F15F556A4E15}" type="sibTrans" cxnId="{87375905-BE6B-47FE-BCC7-2ACE4DA668CF}">
      <dgm:prSet/>
      <dgm:spPr/>
      <dgm:t>
        <a:bodyPr/>
        <a:lstStyle/>
        <a:p>
          <a:endParaRPr lang="en-IN"/>
        </a:p>
      </dgm:t>
    </dgm:pt>
    <dgm:pt modelId="{0F731AEA-228E-4D3D-98CB-71D660643296}">
      <dgm:prSet phldrT="[Text]" custT="1"/>
      <dgm:spPr/>
      <dgm:t>
        <a:bodyPr/>
        <a:lstStyle/>
        <a:p>
          <a:pPr>
            <a:buSzPct val="100000"/>
            <a:buFont typeface="Wingdings" panose="05000000000000000000" pitchFamily="2" charset="2"/>
            <a:buChar char="v"/>
          </a:pPr>
          <a:r>
            <a:rPr lang="en-US" sz="2000" b="0" dirty="0">
              <a:ln/>
              <a:solidFill>
                <a:schemeClr val="bg2"/>
              </a:solidFill>
              <a:latin typeface="Roboto" pitchFamily="34" charset="0"/>
              <a:ea typeface="Roboto" pitchFamily="34" charset="-122"/>
              <a:cs typeface="Roboto" pitchFamily="34" charset="-120"/>
            </a:rPr>
            <a:t>Single-product customers: highest churn (~1,400)</a:t>
          </a:r>
          <a:endParaRPr lang="en-IN" sz="2000" b="0" dirty="0">
            <a:solidFill>
              <a:schemeClr val="bg2"/>
            </a:solidFill>
          </a:endParaRPr>
        </a:p>
      </dgm:t>
    </dgm:pt>
    <dgm:pt modelId="{9EA6DDE6-1870-4EB7-B662-C84891380CFA}" type="parTrans" cxnId="{DAE8E221-ED4D-4677-A3CC-A890DD084F59}">
      <dgm:prSet/>
      <dgm:spPr/>
      <dgm:t>
        <a:bodyPr/>
        <a:lstStyle/>
        <a:p>
          <a:endParaRPr lang="en-IN"/>
        </a:p>
      </dgm:t>
    </dgm:pt>
    <dgm:pt modelId="{B125B327-2130-4442-A1F6-91FD96655C7D}" type="sibTrans" cxnId="{DAE8E221-ED4D-4677-A3CC-A890DD084F59}">
      <dgm:prSet/>
      <dgm:spPr/>
      <dgm:t>
        <a:bodyPr/>
        <a:lstStyle/>
        <a:p>
          <a:endParaRPr lang="en-IN"/>
        </a:p>
      </dgm:t>
    </dgm:pt>
    <dgm:pt modelId="{96AE404A-E672-4352-8860-A69D8492525C}">
      <dgm:prSet phldrT="[Text]" phldr="0"/>
      <dgm:spPr/>
      <dgm:t>
        <a:bodyPr/>
        <a:lstStyle/>
        <a:p>
          <a:r>
            <a:rPr lang="en-US" dirty="0"/>
            <a:t>4.</a:t>
          </a:r>
          <a:endParaRPr lang="en-IN" dirty="0"/>
        </a:p>
      </dgm:t>
    </dgm:pt>
    <dgm:pt modelId="{E7334575-31C5-49BC-9A04-553214268732}" type="parTrans" cxnId="{29A2E4EC-85B5-4792-8F13-BD8C81A87900}">
      <dgm:prSet/>
      <dgm:spPr/>
      <dgm:t>
        <a:bodyPr/>
        <a:lstStyle/>
        <a:p>
          <a:endParaRPr lang="en-IN"/>
        </a:p>
      </dgm:t>
    </dgm:pt>
    <dgm:pt modelId="{774A5ACD-77E6-4C05-8661-7A50E3086EDB}" type="sibTrans" cxnId="{29A2E4EC-85B5-4792-8F13-BD8C81A87900}">
      <dgm:prSet/>
      <dgm:spPr/>
      <dgm:t>
        <a:bodyPr/>
        <a:lstStyle/>
        <a:p>
          <a:endParaRPr lang="en-IN"/>
        </a:p>
      </dgm:t>
    </dgm:pt>
    <dgm:pt modelId="{0CBAD1D3-8360-4E27-9C89-BC2290D36ED5}">
      <dgm:prSet phldrT="[Text]" custT="1"/>
      <dgm:spPr/>
      <dgm:t>
        <a:bodyPr/>
        <a:lstStyle/>
        <a:p>
          <a:pPr>
            <a:buSzPct val="100000"/>
            <a:buFont typeface="Wingdings" panose="05000000000000000000" pitchFamily="2" charset="2"/>
            <a:buChar char="v"/>
          </a:pPr>
          <a:r>
            <a:rPr lang="en-US" sz="2000" b="0" dirty="0">
              <a:ln/>
              <a:solidFill>
                <a:schemeClr val="bg2"/>
              </a:solidFill>
              <a:latin typeface="Roboto" pitchFamily="34" charset="0"/>
              <a:ea typeface="Roboto" pitchFamily="34" charset="-122"/>
              <a:cs typeface="Roboto" pitchFamily="34" charset="-120"/>
            </a:rPr>
            <a:t>Germany &amp; France lead churn; Spain lowest</a:t>
          </a:r>
          <a:endParaRPr lang="en-IN" sz="2000" b="0" dirty="0">
            <a:solidFill>
              <a:schemeClr val="bg2"/>
            </a:solidFill>
          </a:endParaRPr>
        </a:p>
      </dgm:t>
    </dgm:pt>
    <dgm:pt modelId="{DE93B4B8-C3BA-4F34-9A5A-6C95DEAAEA2E}" type="parTrans" cxnId="{A6367991-17C3-47C5-B900-95C1EFF79D5E}">
      <dgm:prSet/>
      <dgm:spPr/>
      <dgm:t>
        <a:bodyPr/>
        <a:lstStyle/>
        <a:p>
          <a:endParaRPr lang="en-IN"/>
        </a:p>
      </dgm:t>
    </dgm:pt>
    <dgm:pt modelId="{E31CBD60-D525-4FC5-8F0A-C3ABC2EBBB06}" type="sibTrans" cxnId="{A6367991-17C3-47C5-B900-95C1EFF79D5E}">
      <dgm:prSet/>
      <dgm:spPr/>
      <dgm:t>
        <a:bodyPr/>
        <a:lstStyle/>
        <a:p>
          <a:endParaRPr lang="en-IN"/>
        </a:p>
      </dgm:t>
    </dgm:pt>
    <dgm:pt modelId="{8ACD59E0-4475-47F5-B77C-9E60A50AE8B8}">
      <dgm:prSet phldrT="[Text]" phldr="0"/>
      <dgm:spPr/>
      <dgm:t>
        <a:bodyPr/>
        <a:lstStyle/>
        <a:p>
          <a:r>
            <a:rPr lang="en-US" dirty="0"/>
            <a:t>5.</a:t>
          </a:r>
          <a:endParaRPr lang="en-IN" dirty="0"/>
        </a:p>
      </dgm:t>
    </dgm:pt>
    <dgm:pt modelId="{B7ECFB2E-36FE-4FF4-93C0-AA581BF2BD27}" type="parTrans" cxnId="{802A50E8-DCEB-44F7-9256-9C543B941446}">
      <dgm:prSet/>
      <dgm:spPr/>
      <dgm:t>
        <a:bodyPr/>
        <a:lstStyle/>
        <a:p>
          <a:endParaRPr lang="en-IN"/>
        </a:p>
      </dgm:t>
    </dgm:pt>
    <dgm:pt modelId="{8D693DB0-D098-469E-8580-9982E2B4E11C}" type="sibTrans" cxnId="{802A50E8-DCEB-44F7-9256-9C543B941446}">
      <dgm:prSet/>
      <dgm:spPr/>
      <dgm:t>
        <a:bodyPr/>
        <a:lstStyle/>
        <a:p>
          <a:endParaRPr lang="en-IN"/>
        </a:p>
      </dgm:t>
    </dgm:pt>
    <dgm:pt modelId="{D884C063-91DC-425C-AC74-4E6888920DB5}">
      <dgm:prSet phldrT="[Text]" custT="1"/>
      <dgm:spPr/>
      <dgm:t>
        <a:bodyPr/>
        <a:lstStyle/>
        <a:p>
          <a:pPr>
            <a:buSzPct val="100000"/>
            <a:buFont typeface="Wingdings" panose="05000000000000000000" pitchFamily="2" charset="2"/>
            <a:buChar char="v"/>
          </a:pPr>
          <a:r>
            <a:rPr lang="en-US" sz="2000" b="0" dirty="0">
              <a:ln/>
              <a:solidFill>
                <a:schemeClr val="bg2"/>
              </a:solidFill>
              <a:latin typeface="Roboto" pitchFamily="34" charset="0"/>
              <a:ea typeface="Roboto" pitchFamily="34" charset="-122"/>
              <a:cs typeface="Roboto" pitchFamily="34" charset="-120"/>
            </a:rPr>
            <a:t>Females 56% of churn  whereas Males 44% of churn</a:t>
          </a:r>
          <a:endParaRPr lang="en-IN" sz="2000" b="0" dirty="0">
            <a:solidFill>
              <a:schemeClr val="bg2"/>
            </a:solidFill>
          </a:endParaRPr>
        </a:p>
      </dgm:t>
    </dgm:pt>
    <dgm:pt modelId="{92402768-DD55-4770-98F9-8024A3D11937}" type="parTrans" cxnId="{E6E5F2C1-F438-4F70-9364-907651E27804}">
      <dgm:prSet/>
      <dgm:spPr/>
      <dgm:t>
        <a:bodyPr/>
        <a:lstStyle/>
        <a:p>
          <a:endParaRPr lang="en-IN"/>
        </a:p>
      </dgm:t>
    </dgm:pt>
    <dgm:pt modelId="{C2A21989-9F81-44E2-A4C7-C3E77556B59D}" type="sibTrans" cxnId="{E6E5F2C1-F438-4F70-9364-907651E27804}">
      <dgm:prSet/>
      <dgm:spPr/>
      <dgm:t>
        <a:bodyPr/>
        <a:lstStyle/>
        <a:p>
          <a:endParaRPr lang="en-IN"/>
        </a:p>
      </dgm:t>
    </dgm:pt>
    <dgm:pt modelId="{0C06847A-583A-4933-93D9-A817E9987BE2}" type="pres">
      <dgm:prSet presAssocID="{67048938-44C3-469C-B379-4F4870B22B2E}" presName="linearFlow" presStyleCnt="0">
        <dgm:presLayoutVars>
          <dgm:dir/>
          <dgm:animLvl val="lvl"/>
          <dgm:resizeHandles val="exact"/>
        </dgm:presLayoutVars>
      </dgm:prSet>
      <dgm:spPr/>
    </dgm:pt>
    <dgm:pt modelId="{38508FCA-D2E4-4978-8D1F-221004759C48}" type="pres">
      <dgm:prSet presAssocID="{7017C569-089D-469B-8C85-D22F7C56CF8E}" presName="composite" presStyleCnt="0"/>
      <dgm:spPr/>
    </dgm:pt>
    <dgm:pt modelId="{3C2B33FA-F61D-4758-AAB0-CA2D847EAE8E}" type="pres">
      <dgm:prSet presAssocID="{7017C569-089D-469B-8C85-D22F7C56CF8E}" presName="parentText" presStyleLbl="alignNode1" presStyleIdx="0" presStyleCnt="5">
        <dgm:presLayoutVars>
          <dgm:chMax val="1"/>
          <dgm:bulletEnabled val="1"/>
        </dgm:presLayoutVars>
      </dgm:prSet>
      <dgm:spPr/>
    </dgm:pt>
    <dgm:pt modelId="{DE73CAB4-BC95-4F96-8679-D951CACBD6B8}" type="pres">
      <dgm:prSet presAssocID="{7017C569-089D-469B-8C85-D22F7C56CF8E}" presName="descendantText" presStyleLbl="alignAcc1" presStyleIdx="0" presStyleCnt="5">
        <dgm:presLayoutVars>
          <dgm:bulletEnabled val="1"/>
        </dgm:presLayoutVars>
      </dgm:prSet>
      <dgm:spPr/>
    </dgm:pt>
    <dgm:pt modelId="{D3E5DEC0-CE67-4D96-98B5-031F79788EE9}" type="pres">
      <dgm:prSet presAssocID="{40B15477-FB3F-4D91-934E-B335E5785C67}" presName="sp" presStyleCnt="0"/>
      <dgm:spPr/>
    </dgm:pt>
    <dgm:pt modelId="{93FFD4FE-EE54-48A4-BA7B-22619167B5F3}" type="pres">
      <dgm:prSet presAssocID="{7B353D8B-F5C8-48EE-AF0E-1910A39B3612}" presName="composite" presStyleCnt="0"/>
      <dgm:spPr/>
    </dgm:pt>
    <dgm:pt modelId="{1FB0EB8B-9E84-4120-B724-348BA338C656}" type="pres">
      <dgm:prSet presAssocID="{7B353D8B-F5C8-48EE-AF0E-1910A39B3612}" presName="parentText" presStyleLbl="alignNode1" presStyleIdx="1" presStyleCnt="5">
        <dgm:presLayoutVars>
          <dgm:chMax val="1"/>
          <dgm:bulletEnabled val="1"/>
        </dgm:presLayoutVars>
      </dgm:prSet>
      <dgm:spPr/>
    </dgm:pt>
    <dgm:pt modelId="{5BA7AECA-EAB0-4772-A3F4-117300A5614C}" type="pres">
      <dgm:prSet presAssocID="{7B353D8B-F5C8-48EE-AF0E-1910A39B3612}" presName="descendantText" presStyleLbl="alignAcc1" presStyleIdx="1" presStyleCnt="5">
        <dgm:presLayoutVars>
          <dgm:bulletEnabled val="1"/>
        </dgm:presLayoutVars>
      </dgm:prSet>
      <dgm:spPr/>
    </dgm:pt>
    <dgm:pt modelId="{0FF68AE2-85A1-45B5-87A1-958CA161CCAE}" type="pres">
      <dgm:prSet presAssocID="{3B775EA3-EF8E-4B5E-BC78-DE3F30DAAA5E}" presName="sp" presStyleCnt="0"/>
      <dgm:spPr/>
    </dgm:pt>
    <dgm:pt modelId="{55E24DE7-27F8-4DB0-B3D2-08141DF2A76F}" type="pres">
      <dgm:prSet presAssocID="{1D719D66-78E1-4156-B812-23D809FB4E98}" presName="composite" presStyleCnt="0"/>
      <dgm:spPr/>
    </dgm:pt>
    <dgm:pt modelId="{59FBB3B5-B7D6-445A-B438-D26B4D73D766}" type="pres">
      <dgm:prSet presAssocID="{1D719D66-78E1-4156-B812-23D809FB4E98}" presName="parentText" presStyleLbl="alignNode1" presStyleIdx="2" presStyleCnt="5">
        <dgm:presLayoutVars>
          <dgm:chMax val="1"/>
          <dgm:bulletEnabled val="1"/>
        </dgm:presLayoutVars>
      </dgm:prSet>
      <dgm:spPr/>
    </dgm:pt>
    <dgm:pt modelId="{A50751B5-25C9-4FB8-B659-E2DB851C3D2B}" type="pres">
      <dgm:prSet presAssocID="{1D719D66-78E1-4156-B812-23D809FB4E98}" presName="descendantText" presStyleLbl="alignAcc1" presStyleIdx="2" presStyleCnt="5">
        <dgm:presLayoutVars>
          <dgm:bulletEnabled val="1"/>
        </dgm:presLayoutVars>
      </dgm:prSet>
      <dgm:spPr/>
    </dgm:pt>
    <dgm:pt modelId="{7D92FEDA-1F70-422E-877E-2DD4D8350164}" type="pres">
      <dgm:prSet presAssocID="{82B8B7FB-D5CA-4AB4-B893-F15F556A4E15}" presName="sp" presStyleCnt="0"/>
      <dgm:spPr/>
    </dgm:pt>
    <dgm:pt modelId="{049EE0A8-B5C3-4731-AD51-72A9DF6C2535}" type="pres">
      <dgm:prSet presAssocID="{96AE404A-E672-4352-8860-A69D8492525C}" presName="composite" presStyleCnt="0"/>
      <dgm:spPr/>
    </dgm:pt>
    <dgm:pt modelId="{7E7F74EF-999F-49E5-9A92-2D8DCCEF9A17}" type="pres">
      <dgm:prSet presAssocID="{96AE404A-E672-4352-8860-A69D8492525C}" presName="parentText" presStyleLbl="alignNode1" presStyleIdx="3" presStyleCnt="5">
        <dgm:presLayoutVars>
          <dgm:chMax val="1"/>
          <dgm:bulletEnabled val="1"/>
        </dgm:presLayoutVars>
      </dgm:prSet>
      <dgm:spPr/>
    </dgm:pt>
    <dgm:pt modelId="{DCEB9D6C-19A3-4643-89C8-7795B3F7E677}" type="pres">
      <dgm:prSet presAssocID="{96AE404A-E672-4352-8860-A69D8492525C}" presName="descendantText" presStyleLbl="alignAcc1" presStyleIdx="3" presStyleCnt="5">
        <dgm:presLayoutVars>
          <dgm:bulletEnabled val="1"/>
        </dgm:presLayoutVars>
      </dgm:prSet>
      <dgm:spPr/>
    </dgm:pt>
    <dgm:pt modelId="{776F7173-474C-4025-9F13-518C4F9ECACA}" type="pres">
      <dgm:prSet presAssocID="{774A5ACD-77E6-4C05-8661-7A50E3086EDB}" presName="sp" presStyleCnt="0"/>
      <dgm:spPr/>
    </dgm:pt>
    <dgm:pt modelId="{6375B69E-0DD1-4BFD-BF73-FF7D586AB6B2}" type="pres">
      <dgm:prSet presAssocID="{8ACD59E0-4475-47F5-B77C-9E60A50AE8B8}" presName="composite" presStyleCnt="0"/>
      <dgm:spPr/>
    </dgm:pt>
    <dgm:pt modelId="{0A8B1A36-2B48-4243-BC64-58BD4AD1C2E4}" type="pres">
      <dgm:prSet presAssocID="{8ACD59E0-4475-47F5-B77C-9E60A50AE8B8}" presName="parentText" presStyleLbl="alignNode1" presStyleIdx="4" presStyleCnt="5">
        <dgm:presLayoutVars>
          <dgm:chMax val="1"/>
          <dgm:bulletEnabled val="1"/>
        </dgm:presLayoutVars>
      </dgm:prSet>
      <dgm:spPr/>
    </dgm:pt>
    <dgm:pt modelId="{0D54747D-DF08-446F-B8C4-64B8288E9590}" type="pres">
      <dgm:prSet presAssocID="{8ACD59E0-4475-47F5-B77C-9E60A50AE8B8}" presName="descendantText" presStyleLbl="alignAcc1" presStyleIdx="4" presStyleCnt="5">
        <dgm:presLayoutVars>
          <dgm:bulletEnabled val="1"/>
        </dgm:presLayoutVars>
      </dgm:prSet>
      <dgm:spPr/>
    </dgm:pt>
  </dgm:ptLst>
  <dgm:cxnLst>
    <dgm:cxn modelId="{87375905-BE6B-47FE-BCC7-2ACE4DA668CF}" srcId="{67048938-44C3-469C-B379-4F4870B22B2E}" destId="{1D719D66-78E1-4156-B812-23D809FB4E98}" srcOrd="2" destOrd="0" parTransId="{BF9242E8-08B1-426F-81DF-CB3D4E399CFE}" sibTransId="{82B8B7FB-D5CA-4AB4-B893-F15F556A4E15}"/>
    <dgm:cxn modelId="{932DE00D-5F34-441E-B09E-60B1710D9005}" srcId="{67048938-44C3-469C-B379-4F4870B22B2E}" destId="{7B353D8B-F5C8-48EE-AF0E-1910A39B3612}" srcOrd="1" destOrd="0" parTransId="{7E6943B9-8ECE-4B00-936D-0B8163E8812A}" sibTransId="{3B775EA3-EF8E-4B5E-BC78-DE3F30DAAA5E}"/>
    <dgm:cxn modelId="{D8E6500F-CFE1-4C47-8D84-58C089CE82A6}" type="presOf" srcId="{D884C063-91DC-425C-AC74-4E6888920DB5}" destId="{0D54747D-DF08-446F-B8C4-64B8288E9590}" srcOrd="0" destOrd="0" presId="urn:microsoft.com/office/officeart/2005/8/layout/chevron2"/>
    <dgm:cxn modelId="{DAE8E221-ED4D-4677-A3CC-A890DD084F59}" srcId="{1D719D66-78E1-4156-B812-23D809FB4E98}" destId="{0F731AEA-228E-4D3D-98CB-71D660643296}" srcOrd="0" destOrd="0" parTransId="{9EA6DDE6-1870-4EB7-B662-C84891380CFA}" sibTransId="{B125B327-2130-4442-A1F6-91FD96655C7D}"/>
    <dgm:cxn modelId="{8F94E823-8035-4BF3-9211-7CF48C587CF3}" type="presOf" srcId="{7B353D8B-F5C8-48EE-AF0E-1910A39B3612}" destId="{1FB0EB8B-9E84-4120-B724-348BA338C656}" srcOrd="0" destOrd="0" presId="urn:microsoft.com/office/officeart/2005/8/layout/chevron2"/>
    <dgm:cxn modelId="{A91FB44C-4806-47A5-8997-044B52640555}" type="presOf" srcId="{0335090A-9CC0-4179-95EB-CAE47283C04B}" destId="{5BA7AECA-EAB0-4772-A3F4-117300A5614C}" srcOrd="0" destOrd="0" presId="urn:microsoft.com/office/officeart/2005/8/layout/chevron2"/>
    <dgm:cxn modelId="{BE21888C-134A-4078-9289-120E3591E758}" srcId="{67048938-44C3-469C-B379-4F4870B22B2E}" destId="{7017C569-089D-469B-8C85-D22F7C56CF8E}" srcOrd="0" destOrd="0" parTransId="{65DF0B8D-4559-4574-8C73-DE6C0060F9A7}" sibTransId="{40B15477-FB3F-4D91-934E-B335E5785C67}"/>
    <dgm:cxn modelId="{A6367991-17C3-47C5-B900-95C1EFF79D5E}" srcId="{96AE404A-E672-4352-8860-A69D8492525C}" destId="{0CBAD1D3-8360-4E27-9C89-BC2290D36ED5}" srcOrd="0" destOrd="0" parTransId="{DE93B4B8-C3BA-4F34-9A5A-6C95DEAAEA2E}" sibTransId="{E31CBD60-D525-4FC5-8F0A-C3ABC2EBBB06}"/>
    <dgm:cxn modelId="{E8A2A1B1-76F5-4B36-BA9E-C1405B8D717D}" srcId="{7017C569-089D-469B-8C85-D22F7C56CF8E}" destId="{57EB2D63-086F-44BD-B0BE-07AC63A5E38F}" srcOrd="0" destOrd="0" parTransId="{4E2719B6-E7B8-49D0-BF8D-D5439C2E06BD}" sibTransId="{C28234A0-1621-4E37-B82B-7474FD7CA4B2}"/>
    <dgm:cxn modelId="{9C5BA8B2-769D-45D4-8ED7-331620133C4E}" type="presOf" srcId="{57EB2D63-086F-44BD-B0BE-07AC63A5E38F}" destId="{DE73CAB4-BC95-4F96-8679-D951CACBD6B8}" srcOrd="0" destOrd="0" presId="urn:microsoft.com/office/officeart/2005/8/layout/chevron2"/>
    <dgm:cxn modelId="{E6E5F2C1-F438-4F70-9364-907651E27804}" srcId="{8ACD59E0-4475-47F5-B77C-9E60A50AE8B8}" destId="{D884C063-91DC-425C-AC74-4E6888920DB5}" srcOrd="0" destOrd="0" parTransId="{92402768-DD55-4770-98F9-8024A3D11937}" sibTransId="{C2A21989-9F81-44E2-A4C7-C3E77556B59D}"/>
    <dgm:cxn modelId="{A80D9CC4-4939-42F8-84C2-1D02E7ADA93A}" type="presOf" srcId="{96AE404A-E672-4352-8860-A69D8492525C}" destId="{7E7F74EF-999F-49E5-9A92-2D8DCCEF9A17}" srcOrd="0" destOrd="0" presId="urn:microsoft.com/office/officeart/2005/8/layout/chevron2"/>
    <dgm:cxn modelId="{2DCE81C6-F253-478A-B932-F799D852DCF1}" srcId="{7B353D8B-F5C8-48EE-AF0E-1910A39B3612}" destId="{0335090A-9CC0-4179-95EB-CAE47283C04B}" srcOrd="0" destOrd="0" parTransId="{4E28C9B3-6EA9-4A04-A38F-5EFDF938DB70}" sibTransId="{2234C049-25CC-4368-A33F-810E661E42FA}"/>
    <dgm:cxn modelId="{DFE91FCB-3773-4BDE-BD60-F22B19922BBF}" type="presOf" srcId="{1D719D66-78E1-4156-B812-23D809FB4E98}" destId="{59FBB3B5-B7D6-445A-B438-D26B4D73D766}" srcOrd="0" destOrd="0" presId="urn:microsoft.com/office/officeart/2005/8/layout/chevron2"/>
    <dgm:cxn modelId="{1E6B81D1-34D6-43C2-A238-082801840A37}" type="presOf" srcId="{0F731AEA-228E-4D3D-98CB-71D660643296}" destId="{A50751B5-25C9-4FB8-B659-E2DB851C3D2B}" srcOrd="0" destOrd="0" presId="urn:microsoft.com/office/officeart/2005/8/layout/chevron2"/>
    <dgm:cxn modelId="{E17885D4-90FB-4D9D-83E4-F8DA07322C13}" type="presOf" srcId="{67048938-44C3-469C-B379-4F4870B22B2E}" destId="{0C06847A-583A-4933-93D9-A817E9987BE2}" srcOrd="0" destOrd="0" presId="urn:microsoft.com/office/officeart/2005/8/layout/chevron2"/>
    <dgm:cxn modelId="{092D53E2-443F-4BBD-884F-22F8664A51F0}" type="presOf" srcId="{8ACD59E0-4475-47F5-B77C-9E60A50AE8B8}" destId="{0A8B1A36-2B48-4243-BC64-58BD4AD1C2E4}" srcOrd="0" destOrd="0" presId="urn:microsoft.com/office/officeart/2005/8/layout/chevron2"/>
    <dgm:cxn modelId="{92355FE5-5D32-40CD-A816-42A37E47586D}" type="presOf" srcId="{7017C569-089D-469B-8C85-D22F7C56CF8E}" destId="{3C2B33FA-F61D-4758-AAB0-CA2D847EAE8E}" srcOrd="0" destOrd="0" presId="urn:microsoft.com/office/officeart/2005/8/layout/chevron2"/>
    <dgm:cxn modelId="{802A50E8-DCEB-44F7-9256-9C543B941446}" srcId="{67048938-44C3-469C-B379-4F4870B22B2E}" destId="{8ACD59E0-4475-47F5-B77C-9E60A50AE8B8}" srcOrd="4" destOrd="0" parTransId="{B7ECFB2E-36FE-4FF4-93C0-AA581BF2BD27}" sibTransId="{8D693DB0-D098-469E-8580-9982E2B4E11C}"/>
    <dgm:cxn modelId="{C24CEDE9-2BF0-4EDB-AF7E-5D0034289073}" type="presOf" srcId="{0CBAD1D3-8360-4E27-9C89-BC2290D36ED5}" destId="{DCEB9D6C-19A3-4643-89C8-7795B3F7E677}" srcOrd="0" destOrd="0" presId="urn:microsoft.com/office/officeart/2005/8/layout/chevron2"/>
    <dgm:cxn modelId="{29A2E4EC-85B5-4792-8F13-BD8C81A87900}" srcId="{67048938-44C3-469C-B379-4F4870B22B2E}" destId="{96AE404A-E672-4352-8860-A69D8492525C}" srcOrd="3" destOrd="0" parTransId="{E7334575-31C5-49BC-9A04-553214268732}" sibTransId="{774A5ACD-77E6-4C05-8661-7A50E3086EDB}"/>
    <dgm:cxn modelId="{34369385-BABD-473A-85D9-5009F8931554}" type="presParOf" srcId="{0C06847A-583A-4933-93D9-A817E9987BE2}" destId="{38508FCA-D2E4-4978-8D1F-221004759C48}" srcOrd="0" destOrd="0" presId="urn:microsoft.com/office/officeart/2005/8/layout/chevron2"/>
    <dgm:cxn modelId="{0940B5A6-8CB5-4F07-9825-4C4EB3F16768}" type="presParOf" srcId="{38508FCA-D2E4-4978-8D1F-221004759C48}" destId="{3C2B33FA-F61D-4758-AAB0-CA2D847EAE8E}" srcOrd="0" destOrd="0" presId="urn:microsoft.com/office/officeart/2005/8/layout/chevron2"/>
    <dgm:cxn modelId="{BD90C588-F161-41F8-B176-D6B018AFC87E}" type="presParOf" srcId="{38508FCA-D2E4-4978-8D1F-221004759C48}" destId="{DE73CAB4-BC95-4F96-8679-D951CACBD6B8}" srcOrd="1" destOrd="0" presId="urn:microsoft.com/office/officeart/2005/8/layout/chevron2"/>
    <dgm:cxn modelId="{DDB92FBE-791D-4B01-ABA9-61FCE78F179B}" type="presParOf" srcId="{0C06847A-583A-4933-93D9-A817E9987BE2}" destId="{D3E5DEC0-CE67-4D96-98B5-031F79788EE9}" srcOrd="1" destOrd="0" presId="urn:microsoft.com/office/officeart/2005/8/layout/chevron2"/>
    <dgm:cxn modelId="{9A98220F-9275-464D-BD9B-89344DE57E4C}" type="presParOf" srcId="{0C06847A-583A-4933-93D9-A817E9987BE2}" destId="{93FFD4FE-EE54-48A4-BA7B-22619167B5F3}" srcOrd="2" destOrd="0" presId="urn:microsoft.com/office/officeart/2005/8/layout/chevron2"/>
    <dgm:cxn modelId="{248FD98D-F8D3-4C62-B592-90B2DE824A4D}" type="presParOf" srcId="{93FFD4FE-EE54-48A4-BA7B-22619167B5F3}" destId="{1FB0EB8B-9E84-4120-B724-348BA338C656}" srcOrd="0" destOrd="0" presId="urn:microsoft.com/office/officeart/2005/8/layout/chevron2"/>
    <dgm:cxn modelId="{0A75B962-D0DE-43EE-9631-2970C293C8C0}" type="presParOf" srcId="{93FFD4FE-EE54-48A4-BA7B-22619167B5F3}" destId="{5BA7AECA-EAB0-4772-A3F4-117300A5614C}" srcOrd="1" destOrd="0" presId="urn:microsoft.com/office/officeart/2005/8/layout/chevron2"/>
    <dgm:cxn modelId="{02017336-C8FC-4708-9862-670FC970A8DC}" type="presParOf" srcId="{0C06847A-583A-4933-93D9-A817E9987BE2}" destId="{0FF68AE2-85A1-45B5-87A1-958CA161CCAE}" srcOrd="3" destOrd="0" presId="urn:microsoft.com/office/officeart/2005/8/layout/chevron2"/>
    <dgm:cxn modelId="{6BC703F8-9B6F-4BBA-B21A-F7793F986870}" type="presParOf" srcId="{0C06847A-583A-4933-93D9-A817E9987BE2}" destId="{55E24DE7-27F8-4DB0-B3D2-08141DF2A76F}" srcOrd="4" destOrd="0" presId="urn:microsoft.com/office/officeart/2005/8/layout/chevron2"/>
    <dgm:cxn modelId="{47258BA6-5FFA-4318-A55E-2F834DB62ECA}" type="presParOf" srcId="{55E24DE7-27F8-4DB0-B3D2-08141DF2A76F}" destId="{59FBB3B5-B7D6-445A-B438-D26B4D73D766}" srcOrd="0" destOrd="0" presId="urn:microsoft.com/office/officeart/2005/8/layout/chevron2"/>
    <dgm:cxn modelId="{2B82971B-BAED-46CD-8505-1AAF26C43022}" type="presParOf" srcId="{55E24DE7-27F8-4DB0-B3D2-08141DF2A76F}" destId="{A50751B5-25C9-4FB8-B659-E2DB851C3D2B}" srcOrd="1" destOrd="0" presId="urn:microsoft.com/office/officeart/2005/8/layout/chevron2"/>
    <dgm:cxn modelId="{0EF49AE3-260C-4284-ADC4-0323E690E439}" type="presParOf" srcId="{0C06847A-583A-4933-93D9-A817E9987BE2}" destId="{7D92FEDA-1F70-422E-877E-2DD4D8350164}" srcOrd="5" destOrd="0" presId="urn:microsoft.com/office/officeart/2005/8/layout/chevron2"/>
    <dgm:cxn modelId="{D79CE604-44C0-49E7-873F-B1EF26C6F0A3}" type="presParOf" srcId="{0C06847A-583A-4933-93D9-A817E9987BE2}" destId="{049EE0A8-B5C3-4731-AD51-72A9DF6C2535}" srcOrd="6" destOrd="0" presId="urn:microsoft.com/office/officeart/2005/8/layout/chevron2"/>
    <dgm:cxn modelId="{D31944BF-9719-4A76-B6B3-4C9CE540EFF7}" type="presParOf" srcId="{049EE0A8-B5C3-4731-AD51-72A9DF6C2535}" destId="{7E7F74EF-999F-49E5-9A92-2D8DCCEF9A17}" srcOrd="0" destOrd="0" presId="urn:microsoft.com/office/officeart/2005/8/layout/chevron2"/>
    <dgm:cxn modelId="{B2555F6B-6D61-493B-BB21-3C34DCEF3602}" type="presParOf" srcId="{049EE0A8-B5C3-4731-AD51-72A9DF6C2535}" destId="{DCEB9D6C-19A3-4643-89C8-7795B3F7E677}" srcOrd="1" destOrd="0" presId="urn:microsoft.com/office/officeart/2005/8/layout/chevron2"/>
    <dgm:cxn modelId="{F22654D3-BEA4-416D-A6EC-238E4DA77E0E}" type="presParOf" srcId="{0C06847A-583A-4933-93D9-A817E9987BE2}" destId="{776F7173-474C-4025-9F13-518C4F9ECACA}" srcOrd="7" destOrd="0" presId="urn:microsoft.com/office/officeart/2005/8/layout/chevron2"/>
    <dgm:cxn modelId="{43DD5682-0E49-4E25-976F-D0B876591536}" type="presParOf" srcId="{0C06847A-583A-4933-93D9-A817E9987BE2}" destId="{6375B69E-0DD1-4BFD-BF73-FF7D586AB6B2}" srcOrd="8" destOrd="0" presId="urn:microsoft.com/office/officeart/2005/8/layout/chevron2"/>
    <dgm:cxn modelId="{C59D1AED-6E39-46FC-868E-9F1239602952}" type="presParOf" srcId="{6375B69E-0DD1-4BFD-BF73-FF7D586AB6B2}" destId="{0A8B1A36-2B48-4243-BC64-58BD4AD1C2E4}" srcOrd="0" destOrd="0" presId="urn:microsoft.com/office/officeart/2005/8/layout/chevron2"/>
    <dgm:cxn modelId="{CEEDDEFC-D86E-4EF3-95D3-D718017F2F99}" type="presParOf" srcId="{6375B69E-0DD1-4BFD-BF73-FF7D586AB6B2}" destId="{0D54747D-DF08-446F-B8C4-64B8288E9590}"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757838-79EF-4E42-A406-65836E1B15EF}" type="doc">
      <dgm:prSet loTypeId="urn:microsoft.com/office/officeart/2024/layout/NumberedTitleList" loCatId="list" qsTypeId="urn:microsoft.com/office/officeart/2005/8/quickstyle/simple1" qsCatId="simple" csTypeId="urn:microsoft.com/office/officeart/2005/8/colors/accent1_2" csCatId="accent1" phldr="1"/>
      <dgm:spPr/>
      <dgm:t>
        <a:bodyPr/>
        <a:lstStyle/>
        <a:p>
          <a:endParaRPr lang="en-IN"/>
        </a:p>
      </dgm:t>
    </dgm:pt>
    <dgm:pt modelId="{945E02F8-5617-4C01-BFFC-FA050B8779C3}">
      <dgm:prSet phldrT="[Text]" custT="1"/>
      <dgm:spPr/>
      <dgm:t>
        <a:bodyPr/>
        <a:lstStyle/>
        <a:p>
          <a:r>
            <a:rPr lang="en-US" sz="2000" dirty="0">
              <a:latin typeface="Roboto" pitchFamily="34" charset="0"/>
              <a:ea typeface="Roboto" pitchFamily="34" charset="-122"/>
              <a:cs typeface="Roboto" pitchFamily="34" charset="-120"/>
            </a:rPr>
            <a:t>Engagement &amp; product ownership are the </a:t>
          </a:r>
          <a:r>
            <a:rPr lang="en-US" sz="2000" b="1" dirty="0">
              <a:latin typeface="Roboto" pitchFamily="34" charset="0"/>
              <a:ea typeface="Roboto" pitchFamily="34" charset="-122"/>
              <a:cs typeface="Roboto" pitchFamily="34" charset="-120"/>
            </a:rPr>
            <a:t>key churn drivers</a:t>
          </a:r>
          <a:endParaRPr lang="en-IN" sz="2000" dirty="0"/>
        </a:p>
      </dgm:t>
    </dgm:pt>
    <dgm:pt modelId="{93228387-86F9-4FD3-94FC-3BAEB5E85C86}" type="parTrans" cxnId="{9DE4EEDE-7067-4B22-BCC6-7B701DEF8954}">
      <dgm:prSet/>
      <dgm:spPr/>
      <dgm:t>
        <a:bodyPr/>
        <a:lstStyle/>
        <a:p>
          <a:endParaRPr lang="en-IN"/>
        </a:p>
      </dgm:t>
    </dgm:pt>
    <dgm:pt modelId="{6D969958-4614-4A01-A340-05DDCCA85D19}" type="sibTrans" cxnId="{9DE4EEDE-7067-4B22-BCC6-7B701DEF8954}">
      <dgm:prSet phldrT="1" phldr="0"/>
      <dgm:spPr/>
      <dgm:t>
        <a:bodyPr/>
        <a:lstStyle/>
        <a:p>
          <a:r>
            <a:rPr lang="en-IN"/>
            <a:t>1</a:t>
          </a:r>
        </a:p>
      </dgm:t>
    </dgm:pt>
    <dgm:pt modelId="{B146D68F-1965-408E-9410-19EA9CF2E151}">
      <dgm:prSet phldrT="[Text]" custT="1"/>
      <dgm:spPr/>
      <dgm:t>
        <a:bodyPr/>
        <a:lstStyle/>
        <a:p>
          <a:pPr>
            <a:buSzPct val="100000"/>
            <a:buChar char="•"/>
          </a:pPr>
          <a:r>
            <a:rPr lang="en-US" sz="2000" dirty="0">
              <a:latin typeface="Roboto" pitchFamily="34" charset="0"/>
              <a:ea typeface="Roboto" pitchFamily="34" charset="-122"/>
              <a:cs typeface="Roboto" pitchFamily="34" charset="-120"/>
            </a:rPr>
            <a:t>Inactive &amp; single-product customers at highest risk</a:t>
          </a:r>
          <a:endParaRPr lang="en-IN" sz="2000" dirty="0"/>
        </a:p>
      </dgm:t>
    </dgm:pt>
    <dgm:pt modelId="{46FD1DA0-CC10-45DB-BBD6-D11B1776C096}" type="parTrans" cxnId="{20FD5AB1-12D1-4DAB-95A7-D8D6FB824A3B}">
      <dgm:prSet/>
      <dgm:spPr/>
      <dgm:t>
        <a:bodyPr/>
        <a:lstStyle/>
        <a:p>
          <a:endParaRPr lang="en-IN"/>
        </a:p>
      </dgm:t>
    </dgm:pt>
    <dgm:pt modelId="{8E396385-B472-4F8E-98B4-8941D52A510F}" type="sibTrans" cxnId="{20FD5AB1-12D1-4DAB-95A7-D8D6FB824A3B}">
      <dgm:prSet phldrT="2" phldr="0"/>
      <dgm:spPr/>
      <dgm:t>
        <a:bodyPr/>
        <a:lstStyle/>
        <a:p>
          <a:r>
            <a:rPr lang="en-IN"/>
            <a:t>2</a:t>
          </a:r>
        </a:p>
      </dgm:t>
    </dgm:pt>
    <dgm:pt modelId="{192770B4-43DE-4C4F-9E71-251D7BA964DF}">
      <dgm:prSet phldrT="[Text]" custT="1"/>
      <dgm:spPr/>
      <dgm:t>
        <a:bodyPr/>
        <a:lstStyle/>
        <a:p>
          <a:pPr>
            <a:buSzPct val="100000"/>
            <a:buChar char="•"/>
          </a:pPr>
          <a:r>
            <a:rPr lang="en-US" sz="2000" dirty="0">
              <a:latin typeface="Roboto" pitchFamily="34" charset="0"/>
              <a:ea typeface="Roboto" pitchFamily="34" charset="-122"/>
              <a:cs typeface="Roboto" pitchFamily="34" charset="-120"/>
            </a:rPr>
            <a:t>779 inactive high-balance customers need immediate action</a:t>
          </a:r>
          <a:endParaRPr lang="en-IN" sz="2000" dirty="0"/>
        </a:p>
      </dgm:t>
    </dgm:pt>
    <dgm:pt modelId="{864507B3-4B2D-4615-A681-81E69590F121}" type="parTrans" cxnId="{091F726E-A192-4165-A109-41DBF3F131AD}">
      <dgm:prSet/>
      <dgm:spPr/>
      <dgm:t>
        <a:bodyPr/>
        <a:lstStyle/>
        <a:p>
          <a:endParaRPr lang="en-IN"/>
        </a:p>
      </dgm:t>
    </dgm:pt>
    <dgm:pt modelId="{A63714E3-02FA-4B6D-AA09-7FA129906704}" type="sibTrans" cxnId="{091F726E-A192-4165-A109-41DBF3F131AD}">
      <dgm:prSet phldrT="3" phldr="0"/>
      <dgm:spPr/>
      <dgm:t>
        <a:bodyPr/>
        <a:lstStyle/>
        <a:p>
          <a:r>
            <a:rPr lang="en-IN"/>
            <a:t>3</a:t>
          </a:r>
        </a:p>
      </dgm:t>
    </dgm:pt>
    <dgm:pt modelId="{DEE40717-6FEA-4736-AD26-BB96ADF06126}" type="pres">
      <dgm:prSet presAssocID="{4A757838-79EF-4E42-A406-65836E1B15EF}" presName="Name0" presStyleCnt="0">
        <dgm:presLayoutVars>
          <dgm:dir/>
          <dgm:animLvl val="lvl"/>
          <dgm:resizeHandles val="exact"/>
        </dgm:presLayoutVars>
      </dgm:prSet>
      <dgm:spPr/>
    </dgm:pt>
    <dgm:pt modelId="{D915937D-673F-41CC-9BBA-8F6528B9BB5B}" type="pres">
      <dgm:prSet presAssocID="{945E02F8-5617-4C01-BFFC-FA050B8779C3}" presName="compositeNode" presStyleCnt="0">
        <dgm:presLayoutVars>
          <dgm:bulletEnabled val="1"/>
        </dgm:presLayoutVars>
      </dgm:prSet>
      <dgm:spPr/>
    </dgm:pt>
    <dgm:pt modelId="{8ACBFD2F-C523-44F5-B4C6-E8B60280A370}" type="pres">
      <dgm:prSet presAssocID="{945E02F8-5617-4C01-BFFC-FA050B8779C3}" presName="bgRect" presStyleLbl="fgAcc1" presStyleIdx="0" presStyleCnt="3"/>
      <dgm:spPr/>
    </dgm:pt>
    <dgm:pt modelId="{44C8238D-06E1-4283-B674-E632E982657A}" type="pres">
      <dgm:prSet presAssocID="{6D969958-4614-4A01-A340-05DDCCA85D19}" presName="sibTransNodeCircle" presStyleLbl="alignNode1" presStyleIdx="0" presStyleCnt="3">
        <dgm:presLayoutVars>
          <dgm:chMax val="0"/>
          <dgm:bulletEnabled/>
        </dgm:presLayoutVars>
      </dgm:prSet>
      <dgm:spPr/>
    </dgm:pt>
    <dgm:pt modelId="{78256D48-BAE2-49C5-9E8B-0E15C370FD6A}" type="pres">
      <dgm:prSet presAssocID="{945E02F8-5617-4C01-BFFC-FA050B8779C3}" presName="nodeText" presStyleLbl="bgAccFollowNode1" presStyleIdx="0" presStyleCnt="0">
        <dgm:presLayoutVars>
          <dgm:bulletEnabled val="1"/>
        </dgm:presLayoutVars>
      </dgm:prSet>
      <dgm:spPr/>
    </dgm:pt>
    <dgm:pt modelId="{32B85951-EC0C-4998-B7B5-9D6FF2C94BF9}" type="pres">
      <dgm:prSet presAssocID="{6D969958-4614-4A01-A340-05DDCCA85D19}" presName="sibTrans" presStyleCnt="0"/>
      <dgm:spPr/>
    </dgm:pt>
    <dgm:pt modelId="{9AF4DF4A-ABC9-473D-922B-DC74C50C7EC2}" type="pres">
      <dgm:prSet presAssocID="{B146D68F-1965-408E-9410-19EA9CF2E151}" presName="compositeNode" presStyleCnt="0">
        <dgm:presLayoutVars>
          <dgm:bulletEnabled val="1"/>
        </dgm:presLayoutVars>
      </dgm:prSet>
      <dgm:spPr/>
    </dgm:pt>
    <dgm:pt modelId="{F54C38A6-246D-4582-AB20-CFCA20C1C693}" type="pres">
      <dgm:prSet presAssocID="{B146D68F-1965-408E-9410-19EA9CF2E151}" presName="bgRect" presStyleLbl="fgAcc1" presStyleIdx="1" presStyleCnt="3"/>
      <dgm:spPr/>
    </dgm:pt>
    <dgm:pt modelId="{AA8BF8E2-742A-49D5-88C6-715C70D49B8F}" type="pres">
      <dgm:prSet presAssocID="{8E396385-B472-4F8E-98B4-8941D52A510F}" presName="sibTransNodeCircle" presStyleLbl="alignNode1" presStyleIdx="1" presStyleCnt="3">
        <dgm:presLayoutVars>
          <dgm:chMax val="0"/>
          <dgm:bulletEnabled/>
        </dgm:presLayoutVars>
      </dgm:prSet>
      <dgm:spPr/>
    </dgm:pt>
    <dgm:pt modelId="{94396C38-2882-41A7-8C07-CD9C44CD7A17}" type="pres">
      <dgm:prSet presAssocID="{B146D68F-1965-408E-9410-19EA9CF2E151}" presName="nodeText" presStyleLbl="bgAccFollowNode1" presStyleIdx="0" presStyleCnt="0">
        <dgm:presLayoutVars>
          <dgm:bulletEnabled val="1"/>
        </dgm:presLayoutVars>
      </dgm:prSet>
      <dgm:spPr/>
    </dgm:pt>
    <dgm:pt modelId="{C7CB4C89-77DE-49D1-A155-EC96EDCA9F5D}" type="pres">
      <dgm:prSet presAssocID="{8E396385-B472-4F8E-98B4-8941D52A510F}" presName="sibTrans" presStyleCnt="0"/>
      <dgm:spPr/>
    </dgm:pt>
    <dgm:pt modelId="{D9C00068-DEFA-4B3F-8BB4-0A1A11E7B234}" type="pres">
      <dgm:prSet presAssocID="{192770B4-43DE-4C4F-9E71-251D7BA964DF}" presName="compositeNode" presStyleCnt="0">
        <dgm:presLayoutVars>
          <dgm:bulletEnabled val="1"/>
        </dgm:presLayoutVars>
      </dgm:prSet>
      <dgm:spPr/>
    </dgm:pt>
    <dgm:pt modelId="{81A5FA3B-5013-47E9-85FB-180C4A9102AD}" type="pres">
      <dgm:prSet presAssocID="{192770B4-43DE-4C4F-9E71-251D7BA964DF}" presName="bgRect" presStyleLbl="fgAcc1" presStyleIdx="2" presStyleCnt="3"/>
      <dgm:spPr/>
    </dgm:pt>
    <dgm:pt modelId="{6B9E464A-4855-4160-BDA8-C0083E7A1BC5}" type="pres">
      <dgm:prSet presAssocID="{A63714E3-02FA-4B6D-AA09-7FA129906704}" presName="sibTransNodeCircle" presStyleLbl="alignNode1" presStyleIdx="2" presStyleCnt="3">
        <dgm:presLayoutVars>
          <dgm:chMax val="0"/>
          <dgm:bulletEnabled/>
        </dgm:presLayoutVars>
      </dgm:prSet>
      <dgm:spPr/>
    </dgm:pt>
    <dgm:pt modelId="{346CCE38-AFA1-4457-840F-E599CEF2E9A4}" type="pres">
      <dgm:prSet presAssocID="{192770B4-43DE-4C4F-9E71-251D7BA964DF}" presName="nodeText" presStyleLbl="bgAccFollowNode1" presStyleIdx="0" presStyleCnt="0">
        <dgm:presLayoutVars>
          <dgm:bulletEnabled val="1"/>
        </dgm:presLayoutVars>
      </dgm:prSet>
      <dgm:spPr/>
    </dgm:pt>
  </dgm:ptLst>
  <dgm:cxnLst>
    <dgm:cxn modelId="{0058CD5B-3941-49D5-8A41-0D1D2D3150EB}" type="presOf" srcId="{945E02F8-5617-4C01-BFFC-FA050B8779C3}" destId="{78256D48-BAE2-49C5-9E8B-0E15C370FD6A}" srcOrd="1" destOrd="0" presId="urn:microsoft.com/office/officeart/2024/layout/NumberedTitleList"/>
    <dgm:cxn modelId="{41183B44-BF3C-4144-81AD-CA9060781A8B}" type="presOf" srcId="{192770B4-43DE-4C4F-9E71-251D7BA964DF}" destId="{346CCE38-AFA1-4457-840F-E599CEF2E9A4}" srcOrd="1" destOrd="0" presId="urn:microsoft.com/office/officeart/2024/layout/NumberedTitleList"/>
    <dgm:cxn modelId="{2D7AD068-7966-4F28-B0BD-785C76067DF0}" type="presOf" srcId="{192770B4-43DE-4C4F-9E71-251D7BA964DF}" destId="{81A5FA3B-5013-47E9-85FB-180C4A9102AD}" srcOrd="0" destOrd="0" presId="urn:microsoft.com/office/officeart/2024/layout/NumberedTitleList"/>
    <dgm:cxn modelId="{091F726E-A192-4165-A109-41DBF3F131AD}" srcId="{4A757838-79EF-4E42-A406-65836E1B15EF}" destId="{192770B4-43DE-4C4F-9E71-251D7BA964DF}" srcOrd="2" destOrd="0" parTransId="{864507B3-4B2D-4615-A681-81E69590F121}" sibTransId="{A63714E3-02FA-4B6D-AA09-7FA129906704}"/>
    <dgm:cxn modelId="{68B984A0-AB96-4455-AD7F-572F4EB9435C}" type="presOf" srcId="{945E02F8-5617-4C01-BFFC-FA050B8779C3}" destId="{8ACBFD2F-C523-44F5-B4C6-E8B60280A370}" srcOrd="0" destOrd="0" presId="urn:microsoft.com/office/officeart/2024/layout/NumberedTitleList"/>
    <dgm:cxn modelId="{865FCCA2-D87E-4974-B507-D46BA3EFA20B}" type="presOf" srcId="{6D969958-4614-4A01-A340-05DDCCA85D19}" destId="{44C8238D-06E1-4283-B674-E632E982657A}" srcOrd="0" destOrd="0" presId="urn:microsoft.com/office/officeart/2024/layout/NumberedTitleList"/>
    <dgm:cxn modelId="{EA5077AE-E69C-49F0-85BC-6DCD7BADE6E4}" type="presOf" srcId="{8E396385-B472-4F8E-98B4-8941D52A510F}" destId="{AA8BF8E2-742A-49D5-88C6-715C70D49B8F}" srcOrd="0" destOrd="0" presId="urn:microsoft.com/office/officeart/2024/layout/NumberedTitleList"/>
    <dgm:cxn modelId="{20FD5AB1-12D1-4DAB-95A7-D8D6FB824A3B}" srcId="{4A757838-79EF-4E42-A406-65836E1B15EF}" destId="{B146D68F-1965-408E-9410-19EA9CF2E151}" srcOrd="1" destOrd="0" parTransId="{46FD1DA0-CC10-45DB-BBD6-D11B1776C096}" sibTransId="{8E396385-B472-4F8E-98B4-8941D52A510F}"/>
    <dgm:cxn modelId="{B65D52DA-C76A-44F3-A783-115655D0FA48}" type="presOf" srcId="{4A757838-79EF-4E42-A406-65836E1B15EF}" destId="{DEE40717-6FEA-4736-AD26-BB96ADF06126}" srcOrd="0" destOrd="0" presId="urn:microsoft.com/office/officeart/2024/layout/NumberedTitleList"/>
    <dgm:cxn modelId="{9DE4EEDE-7067-4B22-BCC6-7B701DEF8954}" srcId="{4A757838-79EF-4E42-A406-65836E1B15EF}" destId="{945E02F8-5617-4C01-BFFC-FA050B8779C3}" srcOrd="0" destOrd="0" parTransId="{93228387-86F9-4FD3-94FC-3BAEB5E85C86}" sibTransId="{6D969958-4614-4A01-A340-05DDCCA85D19}"/>
    <dgm:cxn modelId="{C84CC3E8-505A-4EB3-B233-AA24A03976D3}" type="presOf" srcId="{B146D68F-1965-408E-9410-19EA9CF2E151}" destId="{94396C38-2882-41A7-8C07-CD9C44CD7A17}" srcOrd="1" destOrd="0" presId="urn:microsoft.com/office/officeart/2024/layout/NumberedTitleList"/>
    <dgm:cxn modelId="{7D724AEE-A7C4-4DDD-8C99-BBCCDE9DB15E}" type="presOf" srcId="{B146D68F-1965-408E-9410-19EA9CF2E151}" destId="{F54C38A6-246D-4582-AB20-CFCA20C1C693}" srcOrd="0" destOrd="0" presId="urn:microsoft.com/office/officeart/2024/layout/NumberedTitleList"/>
    <dgm:cxn modelId="{327975F0-5FF0-4ED4-9831-2DE8FD11E741}" type="presOf" srcId="{A63714E3-02FA-4B6D-AA09-7FA129906704}" destId="{6B9E464A-4855-4160-BDA8-C0083E7A1BC5}" srcOrd="0" destOrd="0" presId="urn:microsoft.com/office/officeart/2024/layout/NumberedTitleList"/>
    <dgm:cxn modelId="{62A3B7B7-468A-4F01-A223-25DCB7F5DD4F}" type="presParOf" srcId="{DEE40717-6FEA-4736-AD26-BB96ADF06126}" destId="{D915937D-673F-41CC-9BBA-8F6528B9BB5B}" srcOrd="0" destOrd="0" presId="urn:microsoft.com/office/officeart/2024/layout/NumberedTitleList"/>
    <dgm:cxn modelId="{C1A5976F-C3E7-46EF-82BE-87FF8A5B3760}" type="presParOf" srcId="{D915937D-673F-41CC-9BBA-8F6528B9BB5B}" destId="{8ACBFD2F-C523-44F5-B4C6-E8B60280A370}" srcOrd="0" destOrd="0" presId="urn:microsoft.com/office/officeart/2024/layout/NumberedTitleList"/>
    <dgm:cxn modelId="{E8D0BFAA-0251-4AAF-A11E-19F413F3E4A9}" type="presParOf" srcId="{D915937D-673F-41CC-9BBA-8F6528B9BB5B}" destId="{44C8238D-06E1-4283-B674-E632E982657A}" srcOrd="1" destOrd="0" presId="urn:microsoft.com/office/officeart/2024/layout/NumberedTitleList"/>
    <dgm:cxn modelId="{9F174112-F7BE-4916-BB15-9BCED7313038}" type="presParOf" srcId="{D915937D-673F-41CC-9BBA-8F6528B9BB5B}" destId="{78256D48-BAE2-49C5-9E8B-0E15C370FD6A}" srcOrd="2" destOrd="0" presId="urn:microsoft.com/office/officeart/2024/layout/NumberedTitleList"/>
    <dgm:cxn modelId="{0480D631-00C3-4C75-BCB0-AAA1A423A709}" type="presParOf" srcId="{DEE40717-6FEA-4736-AD26-BB96ADF06126}" destId="{32B85951-EC0C-4998-B7B5-9D6FF2C94BF9}" srcOrd="1" destOrd="0" presId="urn:microsoft.com/office/officeart/2024/layout/NumberedTitleList"/>
    <dgm:cxn modelId="{170AC720-4359-4948-B0B0-C1AEBC1F1C9D}" type="presParOf" srcId="{DEE40717-6FEA-4736-AD26-BB96ADF06126}" destId="{9AF4DF4A-ABC9-473D-922B-DC74C50C7EC2}" srcOrd="2" destOrd="0" presId="urn:microsoft.com/office/officeart/2024/layout/NumberedTitleList"/>
    <dgm:cxn modelId="{640BD8C5-F66E-4AD4-896A-6CCAE3E04CD1}" type="presParOf" srcId="{9AF4DF4A-ABC9-473D-922B-DC74C50C7EC2}" destId="{F54C38A6-246D-4582-AB20-CFCA20C1C693}" srcOrd="0" destOrd="0" presId="urn:microsoft.com/office/officeart/2024/layout/NumberedTitleList"/>
    <dgm:cxn modelId="{B4548A8D-D5F7-42D6-85BC-1A5CC4C4854F}" type="presParOf" srcId="{9AF4DF4A-ABC9-473D-922B-DC74C50C7EC2}" destId="{AA8BF8E2-742A-49D5-88C6-715C70D49B8F}" srcOrd="1" destOrd="0" presId="urn:microsoft.com/office/officeart/2024/layout/NumberedTitleList"/>
    <dgm:cxn modelId="{EAE98E00-EC9E-42E4-A848-E5EEF1862A0A}" type="presParOf" srcId="{9AF4DF4A-ABC9-473D-922B-DC74C50C7EC2}" destId="{94396C38-2882-41A7-8C07-CD9C44CD7A17}" srcOrd="2" destOrd="0" presId="urn:microsoft.com/office/officeart/2024/layout/NumberedTitleList"/>
    <dgm:cxn modelId="{E8002E12-6A84-4B9E-AE63-44410B681372}" type="presParOf" srcId="{DEE40717-6FEA-4736-AD26-BB96ADF06126}" destId="{C7CB4C89-77DE-49D1-A155-EC96EDCA9F5D}" srcOrd="3" destOrd="0" presId="urn:microsoft.com/office/officeart/2024/layout/NumberedTitleList"/>
    <dgm:cxn modelId="{CBA8ACD7-713A-4CF9-AA4F-0085764BB2F7}" type="presParOf" srcId="{DEE40717-6FEA-4736-AD26-BB96ADF06126}" destId="{D9C00068-DEFA-4B3F-8BB4-0A1A11E7B234}" srcOrd="4" destOrd="0" presId="urn:microsoft.com/office/officeart/2024/layout/NumberedTitleList"/>
    <dgm:cxn modelId="{D20928DE-39EF-4569-8999-48FF0FE740AD}" type="presParOf" srcId="{D9C00068-DEFA-4B3F-8BB4-0A1A11E7B234}" destId="{81A5FA3B-5013-47E9-85FB-180C4A9102AD}" srcOrd="0" destOrd="0" presId="urn:microsoft.com/office/officeart/2024/layout/NumberedTitleList"/>
    <dgm:cxn modelId="{D24A922C-EFA3-468A-9039-D19CE5445107}" type="presParOf" srcId="{D9C00068-DEFA-4B3F-8BB4-0A1A11E7B234}" destId="{6B9E464A-4855-4160-BDA8-C0083E7A1BC5}" srcOrd="1" destOrd="0" presId="urn:microsoft.com/office/officeart/2024/layout/NumberedTitleList"/>
    <dgm:cxn modelId="{65602618-DBFB-43B9-A50C-67B5B93B49C6}" type="presParOf" srcId="{D9C00068-DEFA-4B3F-8BB4-0A1A11E7B234}" destId="{346CCE38-AFA1-4457-840F-E599CEF2E9A4}" srcOrd="2" destOrd="0" presId="urn:microsoft.com/office/officeart/2024/layout/NumberedTit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AB2749-F608-49CE-86E5-8FDE1F938AFA}">
      <dsp:nvSpPr>
        <dsp:cNvPr id="0" name=""/>
        <dsp:cNvSpPr/>
      </dsp:nvSpPr>
      <dsp:spPr>
        <a:xfrm>
          <a:off x="2349962" y="1184812"/>
          <a:ext cx="508872" cy="91440"/>
        </a:xfrm>
        <a:custGeom>
          <a:avLst/>
          <a:gdLst/>
          <a:ahLst/>
          <a:cxnLst/>
          <a:rect l="0" t="0" r="0" b="0"/>
          <a:pathLst>
            <a:path>
              <a:moveTo>
                <a:pt x="0" y="45720"/>
              </a:moveTo>
              <a:lnTo>
                <a:pt x="508872"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590911" y="1227835"/>
        <a:ext cx="26973" cy="5394"/>
      </dsp:txXfrm>
    </dsp:sp>
    <dsp:sp modelId="{146A9ED4-2281-480C-98D1-CBD60292BDDF}">
      <dsp:nvSpPr>
        <dsp:cNvPr id="0" name=""/>
        <dsp:cNvSpPr/>
      </dsp:nvSpPr>
      <dsp:spPr>
        <a:xfrm>
          <a:off x="6230" y="526873"/>
          <a:ext cx="2345531" cy="1407318"/>
        </a:xfrm>
        <a:prstGeom prst="rect">
          <a:avLst/>
        </a:prstGeom>
        <a:solidFill>
          <a:schemeClr val="tx2">
            <a:lumMod val="25000"/>
            <a:alpha val="9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Data Validation</a:t>
          </a:r>
          <a:endParaRPr lang="en-IN" sz="2500" kern="1200" dirty="0"/>
        </a:p>
      </dsp:txBody>
      <dsp:txXfrm>
        <a:off x="6230" y="526873"/>
        <a:ext cx="2345531" cy="1407318"/>
      </dsp:txXfrm>
    </dsp:sp>
    <dsp:sp modelId="{9BD49460-E035-43CC-8E74-9CE2A133FB8C}">
      <dsp:nvSpPr>
        <dsp:cNvPr id="0" name=""/>
        <dsp:cNvSpPr/>
      </dsp:nvSpPr>
      <dsp:spPr>
        <a:xfrm>
          <a:off x="5234965" y="1184812"/>
          <a:ext cx="508872" cy="91440"/>
        </a:xfrm>
        <a:custGeom>
          <a:avLst/>
          <a:gdLst/>
          <a:ahLst/>
          <a:cxnLst/>
          <a:rect l="0" t="0" r="0" b="0"/>
          <a:pathLst>
            <a:path>
              <a:moveTo>
                <a:pt x="0" y="45720"/>
              </a:moveTo>
              <a:lnTo>
                <a:pt x="508872"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475914" y="1227835"/>
        <a:ext cx="26973" cy="5394"/>
      </dsp:txXfrm>
    </dsp:sp>
    <dsp:sp modelId="{68AFE9E8-93F8-43B9-A413-9BE3D9FB117B}">
      <dsp:nvSpPr>
        <dsp:cNvPr id="0" name=""/>
        <dsp:cNvSpPr/>
      </dsp:nvSpPr>
      <dsp:spPr>
        <a:xfrm>
          <a:off x="2891234" y="526873"/>
          <a:ext cx="2345531" cy="1407318"/>
        </a:xfrm>
        <a:prstGeom prst="rect">
          <a:avLst/>
        </a:prstGeom>
        <a:solidFill>
          <a:schemeClr val="tx2">
            <a:lumMod val="2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Customer Segmentation</a:t>
          </a:r>
          <a:endParaRPr lang="en-IN" sz="2500" kern="1200" dirty="0"/>
        </a:p>
      </dsp:txBody>
      <dsp:txXfrm>
        <a:off x="2891234" y="526873"/>
        <a:ext cx="2345531" cy="1407318"/>
      </dsp:txXfrm>
    </dsp:sp>
    <dsp:sp modelId="{310F61A9-772D-4101-90B5-3741AD38E9BF}">
      <dsp:nvSpPr>
        <dsp:cNvPr id="0" name=""/>
        <dsp:cNvSpPr/>
      </dsp:nvSpPr>
      <dsp:spPr>
        <a:xfrm>
          <a:off x="1178996" y="1932391"/>
          <a:ext cx="5770006" cy="508872"/>
        </a:xfrm>
        <a:custGeom>
          <a:avLst/>
          <a:gdLst/>
          <a:ahLst/>
          <a:cxnLst/>
          <a:rect l="0" t="0" r="0" b="0"/>
          <a:pathLst>
            <a:path>
              <a:moveTo>
                <a:pt x="5770006" y="0"/>
              </a:moveTo>
              <a:lnTo>
                <a:pt x="5770006" y="271536"/>
              </a:lnTo>
              <a:lnTo>
                <a:pt x="0" y="271536"/>
              </a:lnTo>
              <a:lnTo>
                <a:pt x="0" y="508872"/>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919120" y="2184130"/>
        <a:ext cx="289758" cy="5394"/>
      </dsp:txXfrm>
    </dsp:sp>
    <dsp:sp modelId="{4E2819D0-B719-42A1-8A51-0EC8E3F3180A}">
      <dsp:nvSpPr>
        <dsp:cNvPr id="0" name=""/>
        <dsp:cNvSpPr/>
      </dsp:nvSpPr>
      <dsp:spPr>
        <a:xfrm>
          <a:off x="5776237" y="526873"/>
          <a:ext cx="2345531" cy="1407318"/>
        </a:xfrm>
        <a:prstGeom prst="rect">
          <a:avLst/>
        </a:prstGeom>
        <a:solidFill>
          <a:schemeClr val="tx2">
            <a:lumMod val="2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Excel Analysis</a:t>
          </a:r>
          <a:endParaRPr lang="en-IN" sz="2500" kern="1200" dirty="0"/>
        </a:p>
      </dsp:txBody>
      <dsp:txXfrm>
        <a:off x="5776237" y="526873"/>
        <a:ext cx="2345531" cy="1407318"/>
      </dsp:txXfrm>
    </dsp:sp>
    <dsp:sp modelId="{E1C6D2C8-4BBF-4065-A989-17179BD602F3}">
      <dsp:nvSpPr>
        <dsp:cNvPr id="0" name=""/>
        <dsp:cNvSpPr/>
      </dsp:nvSpPr>
      <dsp:spPr>
        <a:xfrm>
          <a:off x="2349962" y="3131603"/>
          <a:ext cx="508872" cy="91440"/>
        </a:xfrm>
        <a:custGeom>
          <a:avLst/>
          <a:gdLst/>
          <a:ahLst/>
          <a:cxnLst/>
          <a:rect l="0" t="0" r="0" b="0"/>
          <a:pathLst>
            <a:path>
              <a:moveTo>
                <a:pt x="0" y="45720"/>
              </a:moveTo>
              <a:lnTo>
                <a:pt x="508872"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590911" y="3174626"/>
        <a:ext cx="26973" cy="5394"/>
      </dsp:txXfrm>
    </dsp:sp>
    <dsp:sp modelId="{0882D56C-9E72-4ABA-AA8F-E532E7BCC6EF}">
      <dsp:nvSpPr>
        <dsp:cNvPr id="0" name=""/>
        <dsp:cNvSpPr/>
      </dsp:nvSpPr>
      <dsp:spPr>
        <a:xfrm>
          <a:off x="6230" y="2473664"/>
          <a:ext cx="2345531" cy="1407318"/>
        </a:xfrm>
        <a:prstGeom prst="rect">
          <a:avLst/>
        </a:prstGeom>
        <a:solidFill>
          <a:schemeClr val="tx2">
            <a:lumMod val="25000"/>
            <a:alpha val="9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SQL Analysis</a:t>
          </a:r>
          <a:endParaRPr lang="en-IN" sz="2500" kern="1200" dirty="0"/>
        </a:p>
      </dsp:txBody>
      <dsp:txXfrm>
        <a:off x="6230" y="2473664"/>
        <a:ext cx="2345531" cy="1407318"/>
      </dsp:txXfrm>
    </dsp:sp>
    <dsp:sp modelId="{BB84FBE2-EDBA-4B3B-9639-97E27524E7BF}">
      <dsp:nvSpPr>
        <dsp:cNvPr id="0" name=""/>
        <dsp:cNvSpPr/>
      </dsp:nvSpPr>
      <dsp:spPr>
        <a:xfrm>
          <a:off x="2891234" y="2473664"/>
          <a:ext cx="2345531" cy="1407318"/>
        </a:xfrm>
        <a:prstGeom prst="rect">
          <a:avLst/>
        </a:prstGeom>
        <a:solidFill>
          <a:schemeClr val="tx2">
            <a:lumMod val="25000"/>
            <a:alpha val="9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Dashboard Development</a:t>
          </a:r>
          <a:endParaRPr lang="en-IN" sz="2500" kern="1200" dirty="0"/>
        </a:p>
      </dsp:txBody>
      <dsp:txXfrm>
        <a:off x="2891234" y="2473664"/>
        <a:ext cx="2345531" cy="14073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2B33FA-F61D-4758-AAB0-CA2D847EAE8E}">
      <dsp:nvSpPr>
        <dsp:cNvPr id="0" name=""/>
        <dsp:cNvSpPr/>
      </dsp:nvSpPr>
      <dsp:spPr>
        <a:xfrm rot="5400000">
          <a:off x="-148369" y="150643"/>
          <a:ext cx="989132" cy="692392"/>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1.</a:t>
          </a:r>
          <a:endParaRPr lang="en-IN" sz="2000" kern="1200" dirty="0"/>
        </a:p>
      </dsp:txBody>
      <dsp:txXfrm rot="-5400000">
        <a:off x="1" y="348469"/>
        <a:ext cx="692392" cy="296740"/>
      </dsp:txXfrm>
    </dsp:sp>
    <dsp:sp modelId="{DE73CAB4-BC95-4F96-8679-D951CACBD6B8}">
      <dsp:nvSpPr>
        <dsp:cNvPr id="0" name=""/>
        <dsp:cNvSpPr/>
      </dsp:nvSpPr>
      <dsp:spPr>
        <a:xfrm rot="5400000">
          <a:off x="3630037" y="-2935371"/>
          <a:ext cx="642936" cy="6518225"/>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ct val="100000"/>
            <a:buFont typeface="Wingdings" panose="05000000000000000000" pitchFamily="2" charset="2"/>
            <a:buChar char="v"/>
          </a:pPr>
          <a:r>
            <a:rPr lang="en-US" sz="2000" b="0" kern="1200" dirty="0">
              <a:ln/>
              <a:solidFill>
                <a:schemeClr val="bg2"/>
              </a:solidFill>
              <a:latin typeface="Roboto" pitchFamily="34" charset="0"/>
              <a:ea typeface="Roboto" pitchFamily="34" charset="-122"/>
              <a:cs typeface="Roboto" pitchFamily="34" charset="-120"/>
            </a:rPr>
            <a:t>20.37% overall churn — 1 in 5 customers lost</a:t>
          </a:r>
          <a:endParaRPr lang="en-IN" sz="2000" b="0" kern="1200" dirty="0">
            <a:solidFill>
              <a:schemeClr val="bg2"/>
            </a:solidFill>
          </a:endParaRPr>
        </a:p>
      </dsp:txBody>
      <dsp:txXfrm rot="-5400000">
        <a:off x="692393" y="33659"/>
        <a:ext cx="6486839" cy="580164"/>
      </dsp:txXfrm>
    </dsp:sp>
    <dsp:sp modelId="{1FB0EB8B-9E84-4120-B724-348BA338C656}">
      <dsp:nvSpPr>
        <dsp:cNvPr id="0" name=""/>
        <dsp:cNvSpPr/>
      </dsp:nvSpPr>
      <dsp:spPr>
        <a:xfrm rot="5400000">
          <a:off x="-148369" y="1021418"/>
          <a:ext cx="989132" cy="692392"/>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2.</a:t>
          </a:r>
          <a:endParaRPr lang="en-IN" sz="2000" kern="1200" dirty="0"/>
        </a:p>
      </dsp:txBody>
      <dsp:txXfrm rot="-5400000">
        <a:off x="1" y="1219244"/>
        <a:ext cx="692392" cy="296740"/>
      </dsp:txXfrm>
    </dsp:sp>
    <dsp:sp modelId="{5BA7AECA-EAB0-4772-A3F4-117300A5614C}">
      <dsp:nvSpPr>
        <dsp:cNvPr id="0" name=""/>
        <dsp:cNvSpPr/>
      </dsp:nvSpPr>
      <dsp:spPr>
        <a:xfrm rot="5400000">
          <a:off x="3630037" y="-2064595"/>
          <a:ext cx="642936" cy="6518225"/>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ct val="100000"/>
            <a:buFont typeface="Wingdings" panose="05000000000000000000" pitchFamily="2" charset="2"/>
            <a:buChar char="v"/>
          </a:pPr>
          <a:r>
            <a:rPr lang="en-US" sz="2000" b="0" kern="1200" dirty="0">
              <a:ln/>
              <a:solidFill>
                <a:schemeClr val="bg2"/>
              </a:solidFill>
              <a:latin typeface="Roboto" pitchFamily="34" charset="0"/>
              <a:ea typeface="Roboto" pitchFamily="34" charset="-122"/>
              <a:cs typeface="Roboto" pitchFamily="34" charset="-120"/>
            </a:rPr>
            <a:t>Inactive customers: 1,302 churned vs. 735 active</a:t>
          </a:r>
          <a:endParaRPr lang="en-IN" sz="2000" b="0" kern="1200" dirty="0">
            <a:solidFill>
              <a:schemeClr val="bg2"/>
            </a:solidFill>
          </a:endParaRPr>
        </a:p>
      </dsp:txBody>
      <dsp:txXfrm rot="-5400000">
        <a:off x="692393" y="904435"/>
        <a:ext cx="6486839" cy="580164"/>
      </dsp:txXfrm>
    </dsp:sp>
    <dsp:sp modelId="{59FBB3B5-B7D6-445A-B438-D26B4D73D766}">
      <dsp:nvSpPr>
        <dsp:cNvPr id="0" name=""/>
        <dsp:cNvSpPr/>
      </dsp:nvSpPr>
      <dsp:spPr>
        <a:xfrm rot="5400000">
          <a:off x="-148369" y="1892194"/>
          <a:ext cx="989132" cy="692392"/>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3.</a:t>
          </a:r>
          <a:endParaRPr lang="en-IN" sz="2000" kern="1200" dirty="0"/>
        </a:p>
      </dsp:txBody>
      <dsp:txXfrm rot="-5400000">
        <a:off x="1" y="2090020"/>
        <a:ext cx="692392" cy="296740"/>
      </dsp:txXfrm>
    </dsp:sp>
    <dsp:sp modelId="{A50751B5-25C9-4FB8-B659-E2DB851C3D2B}">
      <dsp:nvSpPr>
        <dsp:cNvPr id="0" name=""/>
        <dsp:cNvSpPr/>
      </dsp:nvSpPr>
      <dsp:spPr>
        <a:xfrm rot="5400000">
          <a:off x="3630037" y="-1193819"/>
          <a:ext cx="642936" cy="6518225"/>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ct val="100000"/>
            <a:buFont typeface="Wingdings" panose="05000000000000000000" pitchFamily="2" charset="2"/>
            <a:buChar char="v"/>
          </a:pPr>
          <a:r>
            <a:rPr lang="en-US" sz="2000" b="0" kern="1200" dirty="0">
              <a:ln/>
              <a:solidFill>
                <a:schemeClr val="bg2"/>
              </a:solidFill>
              <a:latin typeface="Roboto" pitchFamily="34" charset="0"/>
              <a:ea typeface="Roboto" pitchFamily="34" charset="-122"/>
              <a:cs typeface="Roboto" pitchFamily="34" charset="-120"/>
            </a:rPr>
            <a:t>Single-product customers: highest churn (~1,400)</a:t>
          </a:r>
          <a:endParaRPr lang="en-IN" sz="2000" b="0" kern="1200" dirty="0">
            <a:solidFill>
              <a:schemeClr val="bg2"/>
            </a:solidFill>
          </a:endParaRPr>
        </a:p>
      </dsp:txBody>
      <dsp:txXfrm rot="-5400000">
        <a:off x="692393" y="1775211"/>
        <a:ext cx="6486839" cy="580164"/>
      </dsp:txXfrm>
    </dsp:sp>
    <dsp:sp modelId="{7E7F74EF-999F-49E5-9A92-2D8DCCEF9A17}">
      <dsp:nvSpPr>
        <dsp:cNvPr id="0" name=""/>
        <dsp:cNvSpPr/>
      </dsp:nvSpPr>
      <dsp:spPr>
        <a:xfrm rot="5400000">
          <a:off x="-148369" y="2762970"/>
          <a:ext cx="989132" cy="692392"/>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4.</a:t>
          </a:r>
          <a:endParaRPr lang="en-IN" sz="2000" kern="1200" dirty="0"/>
        </a:p>
      </dsp:txBody>
      <dsp:txXfrm rot="-5400000">
        <a:off x="1" y="2960796"/>
        <a:ext cx="692392" cy="296740"/>
      </dsp:txXfrm>
    </dsp:sp>
    <dsp:sp modelId="{DCEB9D6C-19A3-4643-89C8-7795B3F7E677}">
      <dsp:nvSpPr>
        <dsp:cNvPr id="0" name=""/>
        <dsp:cNvSpPr/>
      </dsp:nvSpPr>
      <dsp:spPr>
        <a:xfrm rot="5400000">
          <a:off x="3630037" y="-323044"/>
          <a:ext cx="642936" cy="6518225"/>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ct val="100000"/>
            <a:buFont typeface="Wingdings" panose="05000000000000000000" pitchFamily="2" charset="2"/>
            <a:buChar char="v"/>
          </a:pPr>
          <a:r>
            <a:rPr lang="en-US" sz="2000" b="0" kern="1200" dirty="0">
              <a:ln/>
              <a:solidFill>
                <a:schemeClr val="bg2"/>
              </a:solidFill>
              <a:latin typeface="Roboto" pitchFamily="34" charset="0"/>
              <a:ea typeface="Roboto" pitchFamily="34" charset="-122"/>
              <a:cs typeface="Roboto" pitchFamily="34" charset="-120"/>
            </a:rPr>
            <a:t>Germany &amp; France lead churn; Spain lowest</a:t>
          </a:r>
          <a:endParaRPr lang="en-IN" sz="2000" b="0" kern="1200" dirty="0">
            <a:solidFill>
              <a:schemeClr val="bg2"/>
            </a:solidFill>
          </a:endParaRPr>
        </a:p>
      </dsp:txBody>
      <dsp:txXfrm rot="-5400000">
        <a:off x="692393" y="2645986"/>
        <a:ext cx="6486839" cy="580164"/>
      </dsp:txXfrm>
    </dsp:sp>
    <dsp:sp modelId="{0A8B1A36-2B48-4243-BC64-58BD4AD1C2E4}">
      <dsp:nvSpPr>
        <dsp:cNvPr id="0" name=""/>
        <dsp:cNvSpPr/>
      </dsp:nvSpPr>
      <dsp:spPr>
        <a:xfrm rot="5400000">
          <a:off x="-148369" y="3633745"/>
          <a:ext cx="989132" cy="692392"/>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5.</a:t>
          </a:r>
          <a:endParaRPr lang="en-IN" sz="2000" kern="1200" dirty="0"/>
        </a:p>
      </dsp:txBody>
      <dsp:txXfrm rot="-5400000">
        <a:off x="1" y="3831571"/>
        <a:ext cx="692392" cy="296740"/>
      </dsp:txXfrm>
    </dsp:sp>
    <dsp:sp modelId="{0D54747D-DF08-446F-B8C4-64B8288E9590}">
      <dsp:nvSpPr>
        <dsp:cNvPr id="0" name=""/>
        <dsp:cNvSpPr/>
      </dsp:nvSpPr>
      <dsp:spPr>
        <a:xfrm rot="5400000">
          <a:off x="3630037" y="547731"/>
          <a:ext cx="642936" cy="6518225"/>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ct val="100000"/>
            <a:buFont typeface="Wingdings" panose="05000000000000000000" pitchFamily="2" charset="2"/>
            <a:buChar char="v"/>
          </a:pPr>
          <a:r>
            <a:rPr lang="en-US" sz="2000" b="0" kern="1200" dirty="0">
              <a:ln/>
              <a:solidFill>
                <a:schemeClr val="bg2"/>
              </a:solidFill>
              <a:latin typeface="Roboto" pitchFamily="34" charset="0"/>
              <a:ea typeface="Roboto" pitchFamily="34" charset="-122"/>
              <a:cs typeface="Roboto" pitchFamily="34" charset="-120"/>
            </a:rPr>
            <a:t>Females 56% of churn  whereas Males 44% of churn</a:t>
          </a:r>
          <a:endParaRPr lang="en-IN" sz="2000" b="0" kern="1200" dirty="0">
            <a:solidFill>
              <a:schemeClr val="bg2"/>
            </a:solidFill>
          </a:endParaRPr>
        </a:p>
      </dsp:txBody>
      <dsp:txXfrm rot="-5400000">
        <a:off x="692393" y="3516761"/>
        <a:ext cx="6486839" cy="5801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CBFD2F-C523-44F5-B4C6-E8B60280A370}">
      <dsp:nvSpPr>
        <dsp:cNvPr id="0" name=""/>
        <dsp:cNvSpPr/>
      </dsp:nvSpPr>
      <dsp:spPr>
        <a:xfrm>
          <a:off x="0" y="465307"/>
          <a:ext cx="2539999" cy="355599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4408" tIns="330200" rIns="134408" bIns="330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Roboto" pitchFamily="34" charset="0"/>
              <a:ea typeface="Roboto" pitchFamily="34" charset="-122"/>
              <a:cs typeface="Roboto" pitchFamily="34" charset="-120"/>
            </a:rPr>
            <a:t>Engagement &amp; product ownership are the </a:t>
          </a:r>
          <a:r>
            <a:rPr lang="en-US" sz="2000" b="1" kern="1200" dirty="0">
              <a:latin typeface="Roboto" pitchFamily="34" charset="0"/>
              <a:ea typeface="Roboto" pitchFamily="34" charset="-122"/>
              <a:cs typeface="Roboto" pitchFamily="34" charset="-120"/>
            </a:rPr>
            <a:t>key churn drivers</a:t>
          </a:r>
          <a:endParaRPr lang="en-IN" sz="2000" kern="1200" dirty="0"/>
        </a:p>
      </dsp:txBody>
      <dsp:txXfrm>
        <a:off x="0" y="2172187"/>
        <a:ext cx="2539999" cy="1849119"/>
      </dsp:txXfrm>
    </dsp:sp>
    <dsp:sp modelId="{44C8238D-06E1-4283-B674-E632E982657A}">
      <dsp:nvSpPr>
        <dsp:cNvPr id="0" name=""/>
        <dsp:cNvSpPr/>
      </dsp:nvSpPr>
      <dsp:spPr>
        <a:xfrm>
          <a:off x="558800" y="732007"/>
          <a:ext cx="1422399" cy="142239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69" tIns="12700" rIns="75269" bIns="12700" numCol="1" spcCol="1270" anchor="ctr" anchorCtr="0">
          <a:noAutofit/>
        </a:bodyPr>
        <a:lstStyle/>
        <a:p>
          <a:pPr marL="0" lvl="0" indent="0" algn="ctr" defTabSz="2133600">
            <a:lnSpc>
              <a:spcPct val="90000"/>
            </a:lnSpc>
            <a:spcBef>
              <a:spcPct val="0"/>
            </a:spcBef>
            <a:spcAft>
              <a:spcPct val="35000"/>
            </a:spcAft>
            <a:buNone/>
          </a:pPr>
          <a:r>
            <a:rPr lang="en-IN" sz="4800" kern="1200"/>
            <a:t>1</a:t>
          </a:r>
        </a:p>
      </dsp:txBody>
      <dsp:txXfrm>
        <a:off x="767106" y="940313"/>
        <a:ext cx="1005787" cy="1005787"/>
      </dsp:txXfrm>
    </dsp:sp>
    <dsp:sp modelId="{F54C38A6-246D-4582-AB20-CFCA20C1C693}">
      <dsp:nvSpPr>
        <dsp:cNvPr id="0" name=""/>
        <dsp:cNvSpPr/>
      </dsp:nvSpPr>
      <dsp:spPr>
        <a:xfrm>
          <a:off x="2794000" y="465307"/>
          <a:ext cx="2539999" cy="355599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4408" tIns="330200" rIns="134408" bIns="330200" numCol="1" spcCol="1270" anchor="ctr" anchorCtr="0">
          <a:noAutofit/>
        </a:bodyPr>
        <a:lstStyle/>
        <a:p>
          <a:pPr marL="0" lvl="0" indent="0" algn="ctr" defTabSz="889000">
            <a:lnSpc>
              <a:spcPct val="90000"/>
            </a:lnSpc>
            <a:spcBef>
              <a:spcPct val="0"/>
            </a:spcBef>
            <a:spcAft>
              <a:spcPct val="35000"/>
            </a:spcAft>
            <a:buSzPct val="100000"/>
            <a:buNone/>
          </a:pPr>
          <a:r>
            <a:rPr lang="en-US" sz="2000" kern="1200" dirty="0">
              <a:latin typeface="Roboto" pitchFamily="34" charset="0"/>
              <a:ea typeface="Roboto" pitchFamily="34" charset="-122"/>
              <a:cs typeface="Roboto" pitchFamily="34" charset="-120"/>
            </a:rPr>
            <a:t>Inactive &amp; single-product customers at highest risk</a:t>
          </a:r>
          <a:endParaRPr lang="en-IN" sz="2000" kern="1200" dirty="0"/>
        </a:p>
      </dsp:txBody>
      <dsp:txXfrm>
        <a:off x="2794000" y="2172187"/>
        <a:ext cx="2539999" cy="1849119"/>
      </dsp:txXfrm>
    </dsp:sp>
    <dsp:sp modelId="{AA8BF8E2-742A-49D5-88C6-715C70D49B8F}">
      <dsp:nvSpPr>
        <dsp:cNvPr id="0" name=""/>
        <dsp:cNvSpPr/>
      </dsp:nvSpPr>
      <dsp:spPr>
        <a:xfrm>
          <a:off x="3352800" y="732007"/>
          <a:ext cx="1422399" cy="142239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69" tIns="12700" rIns="75269" bIns="12700" numCol="1" spcCol="1270" anchor="ctr" anchorCtr="0">
          <a:noAutofit/>
        </a:bodyPr>
        <a:lstStyle/>
        <a:p>
          <a:pPr marL="0" lvl="0" indent="0" algn="ctr" defTabSz="2133600">
            <a:lnSpc>
              <a:spcPct val="90000"/>
            </a:lnSpc>
            <a:spcBef>
              <a:spcPct val="0"/>
            </a:spcBef>
            <a:spcAft>
              <a:spcPct val="35000"/>
            </a:spcAft>
            <a:buNone/>
          </a:pPr>
          <a:r>
            <a:rPr lang="en-IN" sz="4800" kern="1200"/>
            <a:t>2</a:t>
          </a:r>
        </a:p>
      </dsp:txBody>
      <dsp:txXfrm>
        <a:off x="3561106" y="940313"/>
        <a:ext cx="1005787" cy="1005787"/>
      </dsp:txXfrm>
    </dsp:sp>
    <dsp:sp modelId="{81A5FA3B-5013-47E9-85FB-180C4A9102AD}">
      <dsp:nvSpPr>
        <dsp:cNvPr id="0" name=""/>
        <dsp:cNvSpPr/>
      </dsp:nvSpPr>
      <dsp:spPr>
        <a:xfrm>
          <a:off x="5587999" y="465307"/>
          <a:ext cx="2539999" cy="355599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4408" tIns="330200" rIns="134408" bIns="330200" numCol="1" spcCol="1270" anchor="ctr" anchorCtr="0">
          <a:noAutofit/>
        </a:bodyPr>
        <a:lstStyle/>
        <a:p>
          <a:pPr marL="0" lvl="0" indent="0" algn="ctr" defTabSz="889000">
            <a:lnSpc>
              <a:spcPct val="90000"/>
            </a:lnSpc>
            <a:spcBef>
              <a:spcPct val="0"/>
            </a:spcBef>
            <a:spcAft>
              <a:spcPct val="35000"/>
            </a:spcAft>
            <a:buSzPct val="100000"/>
            <a:buNone/>
          </a:pPr>
          <a:r>
            <a:rPr lang="en-US" sz="2000" kern="1200" dirty="0">
              <a:latin typeface="Roboto" pitchFamily="34" charset="0"/>
              <a:ea typeface="Roboto" pitchFamily="34" charset="-122"/>
              <a:cs typeface="Roboto" pitchFamily="34" charset="-120"/>
            </a:rPr>
            <a:t>779 inactive high-balance customers need immediate action</a:t>
          </a:r>
          <a:endParaRPr lang="en-IN" sz="2000" kern="1200" dirty="0"/>
        </a:p>
      </dsp:txBody>
      <dsp:txXfrm>
        <a:off x="5587999" y="2172187"/>
        <a:ext cx="2539999" cy="1849119"/>
      </dsp:txXfrm>
    </dsp:sp>
    <dsp:sp modelId="{6B9E464A-4855-4160-BDA8-C0083E7A1BC5}">
      <dsp:nvSpPr>
        <dsp:cNvPr id="0" name=""/>
        <dsp:cNvSpPr/>
      </dsp:nvSpPr>
      <dsp:spPr>
        <a:xfrm>
          <a:off x="6146800" y="732007"/>
          <a:ext cx="1422399" cy="1422399"/>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69" tIns="12700" rIns="75269" bIns="12700" numCol="1" spcCol="1270" anchor="ctr" anchorCtr="0">
          <a:noAutofit/>
        </a:bodyPr>
        <a:lstStyle/>
        <a:p>
          <a:pPr marL="0" lvl="0" indent="0" algn="ctr" defTabSz="2133600">
            <a:lnSpc>
              <a:spcPct val="90000"/>
            </a:lnSpc>
            <a:spcBef>
              <a:spcPct val="0"/>
            </a:spcBef>
            <a:spcAft>
              <a:spcPct val="35000"/>
            </a:spcAft>
            <a:buNone/>
          </a:pPr>
          <a:r>
            <a:rPr lang="en-IN" sz="4800" kern="1200"/>
            <a:t>3</a:t>
          </a:r>
        </a:p>
      </dsp:txBody>
      <dsp:txXfrm>
        <a:off x="6355106" y="940313"/>
        <a:ext cx="1005787" cy="1005787"/>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24/layout/NumberedTitleList">
  <dgm:title val=""/>
  <dgm:desc val=""/>
  <dgm:catLst>
    <dgm:cat type="list" pri="8150"/>
  </dgm:catLst>
  <dgm:sampData>
    <dgm:dataModel>
      <dgm:ptLst>
        <dgm:pt modelId="0" type="doc"/>
        <dgm:pt modelId="1">
          <dgm:prSet phldr="1"/>
        </dgm:pt>
        <dgm:pt modelId="2">
          <dgm:prSet phldr="1"/>
        </dgm:pt>
        <dgm:pt modelId="3">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4"/>
          <dgm:constr type="w" for="ch" forName="sibTransNodeCircle" refType="h" refFor="ch" refForName="sibTransNodeCircle"/>
          <dgm:constr type="ctrX" for="ch" forName="sibTransNodeCircle" refType="w" fact="0.5"/>
          <dgm:constr type="ctrY" for="ch" forName="sibTransNodeCircle" refType="h" fact="0.275"/>
          <dgm:constr type="r" for="ch" forName="nodeText" refType="r" refFor="ch" refForName="bgRect"/>
          <dgm:constr type="h" for="ch" forName="nodeText" refType="h" refFor="ch" refForName="bgRect" fact="0.52"/>
          <dgm:constr type="t" for="ch" forName="nodeText" refType="h" refFor="ch" refForName="bgRect" fact="0.48"/>
        </dgm:constrLst>
        <dgm:ruleLst/>
        <dgm:layoutNode name="bgRect" styleLbl="fgAcc1">
          <dgm:alg type="sp"/>
          <dgm:shape xmlns:r="http://schemas.openxmlformats.org/officeDocument/2006/relationships" type="roundRect" r:blip="">
            <dgm:adjLst>
              <dgm:adj idx="1" val="0.1"/>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15"/>
              <dgm:constr type="rMarg" refType="w" fact="0.15"/>
              <dgm:constr type="bMarg" val="1"/>
            </dgm:constrLst>
            <dgm:ruleLst>
              <dgm:rule type="primFontSz" val="14" fact="NaN" max="NaN"/>
            </dgm:ruleLst>
          </dgm:layoutNode>
        </dgm:forEach>
        <dgm:layoutNode name="nodeText" styleLbl="bgAccFollowNode1" moveWith="bgRect">
          <dgm:varLst>
            <dgm:bulletEnabled val="1"/>
          </dgm:varLst>
          <dgm:alg type="tx">
            <dgm:param type="parTxLTRAlign" val="ctr"/>
            <dgm:param type="parTxRTLAlign" val="r"/>
            <dgm:param type="txAnchorVert" val="mid"/>
          </dgm:alg>
          <dgm:shape xmlns:r="http://schemas.openxmlformats.org/officeDocument/2006/relationships" type="rect" r:blip="" zOrderOff="-1" hideGeom="1">
            <dgm:adjLst/>
          </dgm:shape>
          <dgm:presOf axis="desOrSelf" ptType="node"/>
          <dgm:constrLst>
            <dgm:constr type="primFontSz" val="32"/>
            <dgm:constr type="tMarg" val="26"/>
            <dgm:constr type="lMarg" refType="w" fact="0.15"/>
            <dgm:constr type="rMarg" refType="w" fact="0.15"/>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6/9/2026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6/9/2026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6/9/2026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6/9/2026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6/9/2026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6/9/2026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6/9/2026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6/9/2026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6/9/2026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6/9/2026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6/9/2026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6/9/2026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145F-A16A-6FC7-CACF-C842D39DA3F0}"/>
              </a:ext>
            </a:extLst>
          </p:cNvPr>
          <p:cNvSpPr>
            <a:spLocks noGrp="1"/>
          </p:cNvSpPr>
          <p:nvPr>
            <p:ph type="ctrTitle"/>
          </p:nvPr>
        </p:nvSpPr>
        <p:spPr>
          <a:xfrm>
            <a:off x="1353279" y="538314"/>
            <a:ext cx="6768166" cy="3384757"/>
          </a:xfrm>
        </p:spPr>
        <p:txBody>
          <a:bodyPr>
            <a:normAutofit fontScale="90000"/>
          </a:bodyPr>
          <a:lstStyle/>
          <a:p>
            <a:pPr algn="l"/>
            <a:r>
              <a:rPr lang="en-IN" b="1" dirty="0">
                <a:effectLst>
                  <a:outerShdw blurRad="38100" dist="38100" dir="2700000" algn="tl">
                    <a:srgbClr val="000000">
                      <a:alpha val="43137"/>
                    </a:srgbClr>
                  </a:outerShdw>
                </a:effectLst>
              </a:rPr>
              <a:t>Customer Engagement &amp; Product Utilization Analytics for Retention Strategy</a:t>
            </a:r>
            <a:br>
              <a:rPr lang="en-IN" b="1" dirty="0"/>
            </a:b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CA57BC8-9293-4C3D-2208-E57802175189}"/>
              </a:ext>
            </a:extLst>
          </p:cNvPr>
          <p:cNvSpPr>
            <a:spLocks noGrp="1"/>
          </p:cNvSpPr>
          <p:nvPr>
            <p:ph type="subTitle" idx="1"/>
          </p:nvPr>
        </p:nvSpPr>
        <p:spPr>
          <a:xfrm>
            <a:off x="1445343" y="4414683"/>
            <a:ext cx="6192918" cy="1236405"/>
          </a:xfrm>
        </p:spPr>
        <p:txBody>
          <a:bodyPr/>
          <a:lstStyle/>
          <a:p>
            <a:pPr algn="l"/>
            <a:r>
              <a:rPr lang="en-US" dirty="0"/>
              <a:t>Identifying churn risk and driving retention through data driven strategy.</a:t>
            </a:r>
            <a:endParaRPr lang="en-IN" dirty="0"/>
          </a:p>
        </p:txBody>
      </p:sp>
    </p:spTree>
    <p:extLst>
      <p:ext uri="{BB962C8B-B14F-4D97-AF65-F5344CB8AC3E}">
        <p14:creationId xmlns:p14="http://schemas.microsoft.com/office/powerpoint/2010/main" val="3974303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CE287-5EBD-651D-5CB5-720B6CEFA202}"/>
              </a:ext>
            </a:extLst>
          </p:cNvPr>
          <p:cNvSpPr>
            <a:spLocks noGrp="1"/>
          </p:cNvSpPr>
          <p:nvPr>
            <p:ph type="title"/>
          </p:nvPr>
        </p:nvSpPr>
        <p:spPr/>
        <p:txBody>
          <a:bodyPr/>
          <a:lstStyle/>
          <a:p>
            <a:pPr algn="l"/>
            <a:r>
              <a:rPr lang="en-US" dirty="0"/>
              <a:t>1. </a:t>
            </a:r>
            <a:r>
              <a:rPr lang="en-US" b="1" dirty="0">
                <a:effectLst>
                  <a:outerShdw blurRad="38100" dist="38100" dir="2700000" algn="tl">
                    <a:srgbClr val="000000">
                      <a:alpha val="43137"/>
                    </a:srgbClr>
                  </a:outerShdw>
                </a:effectLst>
              </a:rPr>
              <a:t>Introduction</a:t>
            </a:r>
            <a:endParaRPr lang="en-IN" b="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196B9BBD-DAAE-4FE7-CD0D-3EBDA74DA9B8}"/>
              </a:ext>
            </a:extLst>
          </p:cNvPr>
          <p:cNvSpPr>
            <a:spLocks noGrp="1"/>
          </p:cNvSpPr>
          <p:nvPr>
            <p:ph idx="1"/>
          </p:nvPr>
        </p:nvSpPr>
        <p:spPr>
          <a:xfrm>
            <a:off x="2533150" y="1779638"/>
            <a:ext cx="7958331" cy="3916344"/>
          </a:xfrm>
        </p:spPr>
        <p:txBody>
          <a:bodyPr/>
          <a:lstStyle/>
          <a:p>
            <a:pPr algn="just"/>
            <a:r>
              <a:rPr lang="en-IN" sz="2400" dirty="0"/>
              <a:t>Customer retention is one of the most critical challenges faced by banks and financial institutions. Acquiring new customers is often more expensive than retaining existing ones. Therefore, understanding customer engagement patterns and product utilization behaviour is essential for reducing customer churn and improving long-term profitability</a:t>
            </a:r>
            <a:r>
              <a:rPr lang="en-IN" dirty="0"/>
              <a:t>.</a:t>
            </a:r>
          </a:p>
          <a:p>
            <a:endParaRPr lang="en-IN" dirty="0"/>
          </a:p>
        </p:txBody>
      </p:sp>
    </p:spTree>
    <p:extLst>
      <p:ext uri="{BB962C8B-B14F-4D97-AF65-F5344CB8AC3E}">
        <p14:creationId xmlns:p14="http://schemas.microsoft.com/office/powerpoint/2010/main" val="2725959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1058F-3E4C-60E4-C8BE-5F7F49C4B2D5}"/>
              </a:ext>
            </a:extLst>
          </p:cNvPr>
          <p:cNvSpPr>
            <a:spLocks noGrp="1"/>
          </p:cNvSpPr>
          <p:nvPr>
            <p:ph type="title"/>
          </p:nvPr>
        </p:nvSpPr>
        <p:spPr>
          <a:xfrm>
            <a:off x="2611809" y="808057"/>
            <a:ext cx="4408424" cy="656950"/>
          </a:xfrm>
        </p:spPr>
        <p:txBody>
          <a:bodyPr/>
          <a:lstStyle/>
          <a:p>
            <a:pPr algn="l"/>
            <a:r>
              <a:rPr lang="en-US" dirty="0"/>
              <a:t>2.</a:t>
            </a:r>
            <a:r>
              <a:rPr lang="en-US" b="1" dirty="0">
                <a:effectLst>
                  <a:outerShdw blurRad="38100" dist="38100" dir="2700000" algn="tl">
                    <a:srgbClr val="000000">
                      <a:alpha val="43137"/>
                    </a:srgbClr>
                  </a:outerShdw>
                </a:effectLst>
              </a:rPr>
              <a:t> Churn Challenge</a:t>
            </a:r>
            <a:endParaRPr lang="en-IN" b="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9F250E77-44A2-8364-64AD-E89D2AC744C9}"/>
              </a:ext>
            </a:extLst>
          </p:cNvPr>
          <p:cNvSpPr>
            <a:spLocks noGrp="1"/>
          </p:cNvSpPr>
          <p:nvPr>
            <p:ph idx="1"/>
          </p:nvPr>
        </p:nvSpPr>
        <p:spPr>
          <a:xfrm>
            <a:off x="2263445" y="1465007"/>
            <a:ext cx="7796540" cy="4407957"/>
          </a:xfrm>
        </p:spPr>
        <p:txBody>
          <a:bodyPr/>
          <a:lstStyle/>
          <a:p>
            <a:pPr marL="0" indent="0">
              <a:buNone/>
            </a:pPr>
            <a:r>
              <a:rPr lang="en-IN" b="1" u="sng" dirty="0"/>
              <a:t>Problem Statement</a:t>
            </a:r>
            <a:r>
              <a:rPr lang="en-IN" b="1" dirty="0"/>
              <a:t>:</a:t>
            </a:r>
            <a:endParaRPr lang="en-IN" dirty="0"/>
          </a:p>
          <a:p>
            <a:pPr marL="457200" lvl="1" indent="0">
              <a:buNone/>
            </a:pPr>
            <a:r>
              <a:rPr lang="en-IN" dirty="0"/>
              <a:t>Banks face significant losses when customers discontinue their services. Customer churn can occur due to low engagement, limited product usage, dissatisfaction, or lack of personalized services.</a:t>
            </a:r>
          </a:p>
          <a:p>
            <a:pPr marL="457200" lvl="1" indent="0">
              <a:buNone/>
            </a:pPr>
            <a:endParaRPr lang="en-IN" dirty="0"/>
          </a:p>
          <a:p>
            <a:pPr marL="0" indent="0">
              <a:buNone/>
            </a:pPr>
            <a:r>
              <a:rPr lang="en-IN" b="1" u="sng" dirty="0"/>
              <a:t>Goal</a:t>
            </a:r>
            <a:r>
              <a:rPr lang="en-IN" b="1" dirty="0"/>
              <a:t>:</a:t>
            </a:r>
          </a:p>
          <a:p>
            <a:pPr marL="457200" lvl="1" indent="0">
              <a:buNone/>
            </a:pPr>
            <a:r>
              <a:rPr lang="en-IN" dirty="0"/>
              <a:t>To identify the factors influencing customer churn and recommend strategies that improve customer retention through engagement enhancement and product utilization optimization.</a:t>
            </a:r>
          </a:p>
        </p:txBody>
      </p:sp>
    </p:spTree>
    <p:extLst>
      <p:ext uri="{BB962C8B-B14F-4D97-AF65-F5344CB8AC3E}">
        <p14:creationId xmlns:p14="http://schemas.microsoft.com/office/powerpoint/2010/main" val="4232868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92FFD-5F2D-B9D4-4E28-E1EC6BBC81FC}"/>
              </a:ext>
            </a:extLst>
          </p:cNvPr>
          <p:cNvSpPr>
            <a:spLocks noGrp="1"/>
          </p:cNvSpPr>
          <p:nvPr>
            <p:ph type="title"/>
          </p:nvPr>
        </p:nvSpPr>
        <p:spPr>
          <a:xfrm>
            <a:off x="2609873" y="805818"/>
            <a:ext cx="7956560" cy="639524"/>
          </a:xfrm>
        </p:spPr>
        <p:txBody>
          <a:bodyPr/>
          <a:lstStyle/>
          <a:p>
            <a:pPr algn="l"/>
            <a:r>
              <a:rPr lang="en-US" dirty="0"/>
              <a:t>3.</a:t>
            </a:r>
            <a:r>
              <a:rPr lang="en-US" b="1" dirty="0">
                <a:effectLst>
                  <a:outerShdw blurRad="38100" dist="38100" dir="2700000" algn="tl">
                    <a:srgbClr val="000000">
                      <a:alpha val="43137"/>
                    </a:srgbClr>
                  </a:outerShdw>
                </a:effectLst>
              </a:rPr>
              <a:t>Objectives</a:t>
            </a:r>
            <a:endParaRPr lang="en-IN" b="1" dirty="0">
              <a:effectLst>
                <a:outerShdw blurRad="38100" dist="38100" dir="2700000" algn="tl">
                  <a:srgbClr val="000000">
                    <a:alpha val="43137"/>
                  </a:srgbClr>
                </a:outerShdw>
              </a:effectLst>
            </a:endParaRPr>
          </a:p>
        </p:txBody>
      </p:sp>
      <p:sp>
        <p:nvSpPr>
          <p:cNvPr id="3" name="Text Placeholder 2">
            <a:extLst>
              <a:ext uri="{FF2B5EF4-FFF2-40B4-BE49-F238E27FC236}">
                <a16:creationId xmlns:a16="http://schemas.microsoft.com/office/drawing/2014/main" id="{E1247AD9-BE3C-7268-53B2-20300BBC2FD7}"/>
              </a:ext>
            </a:extLst>
          </p:cNvPr>
          <p:cNvSpPr>
            <a:spLocks noGrp="1"/>
          </p:cNvSpPr>
          <p:nvPr>
            <p:ph type="body" idx="1"/>
          </p:nvPr>
        </p:nvSpPr>
        <p:spPr>
          <a:xfrm>
            <a:off x="2633585" y="1445342"/>
            <a:ext cx="3896467" cy="713818"/>
          </a:xfrm>
        </p:spPr>
        <p:txBody>
          <a:bodyPr/>
          <a:lstStyle/>
          <a:p>
            <a:r>
              <a:rPr lang="en-US" dirty="0"/>
              <a:t>(A) </a:t>
            </a:r>
            <a:r>
              <a:rPr lang="en-US" u="sng" dirty="0"/>
              <a:t>Primary Objectives</a:t>
            </a:r>
            <a:endParaRPr lang="en-IN" u="sng" dirty="0"/>
          </a:p>
        </p:txBody>
      </p:sp>
      <p:sp>
        <p:nvSpPr>
          <p:cNvPr id="4" name="Content Placeholder 3">
            <a:extLst>
              <a:ext uri="{FF2B5EF4-FFF2-40B4-BE49-F238E27FC236}">
                <a16:creationId xmlns:a16="http://schemas.microsoft.com/office/drawing/2014/main" id="{5C81038A-B43E-6199-2738-3049195B8733}"/>
              </a:ext>
            </a:extLst>
          </p:cNvPr>
          <p:cNvSpPr>
            <a:spLocks noGrp="1"/>
          </p:cNvSpPr>
          <p:nvPr>
            <p:ph sz="half" idx="2"/>
          </p:nvPr>
        </p:nvSpPr>
        <p:spPr>
          <a:xfrm>
            <a:off x="2609285" y="2303817"/>
            <a:ext cx="3893623" cy="3618948"/>
          </a:xfrm>
        </p:spPr>
        <p:txBody>
          <a:bodyPr>
            <a:normAutofit fontScale="92500" lnSpcReduction="10000"/>
          </a:bodyPr>
          <a:lstStyle/>
          <a:p>
            <a:pPr>
              <a:lnSpc>
                <a:spcPct val="132000"/>
              </a:lnSpc>
              <a:buSzPct val="100000"/>
              <a:buFont typeface="Wingdings" panose="05000000000000000000" pitchFamily="2" charset="2"/>
              <a:buChar char="Ø"/>
            </a:pPr>
            <a:r>
              <a:rPr lang="en-US" dirty="0">
                <a:solidFill>
                  <a:schemeClr val="accent5">
                    <a:lumMod val="60000"/>
                    <a:lumOff val="40000"/>
                  </a:schemeClr>
                </a:solidFill>
                <a:latin typeface="Roboto" pitchFamily="34" charset="0"/>
                <a:ea typeface="Roboto" pitchFamily="34" charset="-122"/>
                <a:cs typeface="Roboto" pitchFamily="34" charset="-120"/>
              </a:rPr>
              <a:t>Evaluate engagement ↔ churn relationship</a:t>
            </a:r>
            <a:endParaRPr lang="en-US" dirty="0">
              <a:solidFill>
                <a:schemeClr val="accent5">
                  <a:lumMod val="60000"/>
                  <a:lumOff val="40000"/>
                </a:schemeClr>
              </a:solidFill>
            </a:endParaRPr>
          </a:p>
          <a:p>
            <a:pPr>
              <a:lnSpc>
                <a:spcPct val="132000"/>
              </a:lnSpc>
              <a:buSzPct val="100000"/>
              <a:buFont typeface="Wingdings" panose="05000000000000000000" pitchFamily="2" charset="2"/>
              <a:buChar char="Ø"/>
            </a:pPr>
            <a:r>
              <a:rPr lang="en-US" dirty="0">
                <a:solidFill>
                  <a:schemeClr val="accent5">
                    <a:lumMod val="60000"/>
                    <a:lumOff val="40000"/>
                  </a:schemeClr>
                </a:solidFill>
                <a:latin typeface="Roboto" pitchFamily="34" charset="0"/>
                <a:ea typeface="Roboto" pitchFamily="34" charset="-122"/>
                <a:cs typeface="Roboto" pitchFamily="34" charset="-120"/>
              </a:rPr>
              <a:t>Measure product ownership impact on retention</a:t>
            </a:r>
            <a:endParaRPr lang="en-US" dirty="0">
              <a:solidFill>
                <a:schemeClr val="accent5">
                  <a:lumMod val="60000"/>
                  <a:lumOff val="40000"/>
                </a:schemeClr>
              </a:solidFill>
            </a:endParaRPr>
          </a:p>
          <a:p>
            <a:pPr>
              <a:lnSpc>
                <a:spcPct val="132000"/>
              </a:lnSpc>
              <a:buSzPct val="100000"/>
              <a:buFont typeface="Wingdings" panose="05000000000000000000" pitchFamily="2" charset="2"/>
              <a:buChar char="Ø"/>
            </a:pPr>
            <a:r>
              <a:rPr lang="en-US" dirty="0">
                <a:solidFill>
                  <a:schemeClr val="accent5">
                    <a:lumMod val="60000"/>
                    <a:lumOff val="40000"/>
                  </a:schemeClr>
                </a:solidFill>
                <a:latin typeface="Roboto" pitchFamily="34" charset="0"/>
                <a:ea typeface="Roboto" pitchFamily="34" charset="-122"/>
                <a:cs typeface="Roboto" pitchFamily="34" charset="-120"/>
              </a:rPr>
              <a:t>Identify disengaged high-value customers</a:t>
            </a:r>
            <a:endParaRPr lang="en-US" dirty="0">
              <a:solidFill>
                <a:schemeClr val="accent5">
                  <a:lumMod val="60000"/>
                  <a:lumOff val="40000"/>
                </a:schemeClr>
              </a:solidFill>
            </a:endParaRPr>
          </a:p>
          <a:p>
            <a:pPr>
              <a:lnSpc>
                <a:spcPct val="132000"/>
              </a:lnSpc>
              <a:buSzPct val="100000"/>
              <a:buFont typeface="Wingdings" panose="05000000000000000000" pitchFamily="2" charset="2"/>
              <a:buChar char="Ø"/>
            </a:pPr>
            <a:r>
              <a:rPr lang="en-US" dirty="0">
                <a:solidFill>
                  <a:schemeClr val="accent5">
                    <a:lumMod val="60000"/>
                    <a:lumOff val="40000"/>
                  </a:schemeClr>
                </a:solidFill>
                <a:latin typeface="Roboto" pitchFamily="34" charset="0"/>
                <a:ea typeface="Roboto" pitchFamily="34" charset="-122"/>
                <a:cs typeface="Roboto" pitchFamily="34" charset="-120"/>
              </a:rPr>
              <a:t>Analyze churn across customer segments</a:t>
            </a:r>
            <a:endParaRPr lang="en-US" dirty="0">
              <a:solidFill>
                <a:schemeClr val="accent5">
                  <a:lumMod val="60000"/>
                  <a:lumOff val="40000"/>
                </a:schemeClr>
              </a:solidFill>
            </a:endParaRPr>
          </a:p>
          <a:p>
            <a:endParaRPr lang="en-IN" dirty="0"/>
          </a:p>
        </p:txBody>
      </p:sp>
      <p:sp>
        <p:nvSpPr>
          <p:cNvPr id="5" name="Text Placeholder 4">
            <a:extLst>
              <a:ext uri="{FF2B5EF4-FFF2-40B4-BE49-F238E27FC236}">
                <a16:creationId xmlns:a16="http://schemas.microsoft.com/office/drawing/2014/main" id="{EF7A1612-6080-4A68-F576-BABF4BD08EBA}"/>
              </a:ext>
            </a:extLst>
          </p:cNvPr>
          <p:cNvSpPr>
            <a:spLocks noGrp="1"/>
          </p:cNvSpPr>
          <p:nvPr>
            <p:ph type="body" sz="quarter" idx="3"/>
          </p:nvPr>
        </p:nvSpPr>
        <p:spPr>
          <a:xfrm>
            <a:off x="6825750" y="1326363"/>
            <a:ext cx="3417840" cy="713818"/>
          </a:xfrm>
        </p:spPr>
        <p:txBody>
          <a:bodyPr/>
          <a:lstStyle/>
          <a:p>
            <a:r>
              <a:rPr lang="en-US" dirty="0"/>
              <a:t>(B) </a:t>
            </a:r>
            <a:r>
              <a:rPr lang="en-US" u="sng" dirty="0"/>
              <a:t>Secondary Objectives</a:t>
            </a:r>
            <a:endParaRPr lang="en-IN" u="sng" dirty="0"/>
          </a:p>
        </p:txBody>
      </p:sp>
      <p:sp>
        <p:nvSpPr>
          <p:cNvPr id="6" name="Content Placeholder 5">
            <a:extLst>
              <a:ext uri="{FF2B5EF4-FFF2-40B4-BE49-F238E27FC236}">
                <a16:creationId xmlns:a16="http://schemas.microsoft.com/office/drawing/2014/main" id="{4CCB064E-0007-0A2F-6F25-5F8570799E0B}"/>
              </a:ext>
            </a:extLst>
          </p:cNvPr>
          <p:cNvSpPr>
            <a:spLocks noGrp="1"/>
          </p:cNvSpPr>
          <p:nvPr>
            <p:ph sz="quarter" idx="4"/>
          </p:nvPr>
        </p:nvSpPr>
        <p:spPr>
          <a:xfrm>
            <a:off x="6666635" y="2231923"/>
            <a:ext cx="3899798" cy="3690842"/>
          </a:xfrm>
        </p:spPr>
        <p:txBody>
          <a:bodyPr>
            <a:normAutofit fontScale="92500" lnSpcReduction="10000"/>
          </a:bodyPr>
          <a:lstStyle/>
          <a:p>
            <a:pPr>
              <a:lnSpc>
                <a:spcPct val="132000"/>
              </a:lnSpc>
              <a:buSzPct val="100000"/>
              <a:buFont typeface="Wingdings" panose="05000000000000000000" pitchFamily="2" charset="2"/>
              <a:buChar char="Ø"/>
            </a:pPr>
            <a:r>
              <a:rPr lang="en-US" dirty="0">
                <a:solidFill>
                  <a:schemeClr val="accent5">
                    <a:lumMod val="60000"/>
                    <a:lumOff val="40000"/>
                  </a:schemeClr>
                </a:solidFill>
                <a:latin typeface="Roboto" pitchFamily="34" charset="0"/>
                <a:ea typeface="Roboto" pitchFamily="34" charset="-122"/>
                <a:cs typeface="Roboto" pitchFamily="34" charset="-120"/>
              </a:rPr>
              <a:t>Improve product bundling</a:t>
            </a:r>
            <a:endParaRPr lang="en-US" dirty="0">
              <a:solidFill>
                <a:schemeClr val="accent5">
                  <a:lumMod val="60000"/>
                  <a:lumOff val="40000"/>
                </a:schemeClr>
              </a:solidFill>
            </a:endParaRPr>
          </a:p>
          <a:p>
            <a:pPr>
              <a:lnSpc>
                <a:spcPct val="132000"/>
              </a:lnSpc>
              <a:buSzPct val="100000"/>
              <a:buFont typeface="Wingdings" panose="05000000000000000000" pitchFamily="2" charset="2"/>
              <a:buChar char="Ø"/>
            </a:pPr>
            <a:r>
              <a:rPr lang="en-US" dirty="0">
                <a:solidFill>
                  <a:schemeClr val="accent5">
                    <a:lumMod val="60000"/>
                    <a:lumOff val="40000"/>
                  </a:schemeClr>
                </a:solidFill>
                <a:latin typeface="Roboto" pitchFamily="34" charset="0"/>
                <a:ea typeface="Roboto" pitchFamily="34" charset="-122"/>
                <a:cs typeface="Roboto" pitchFamily="34" charset="-120"/>
              </a:rPr>
              <a:t>Reduce premium customer churn</a:t>
            </a:r>
            <a:endParaRPr lang="en-US" dirty="0">
              <a:solidFill>
                <a:schemeClr val="accent5">
                  <a:lumMod val="60000"/>
                  <a:lumOff val="40000"/>
                </a:schemeClr>
              </a:solidFill>
            </a:endParaRPr>
          </a:p>
          <a:p>
            <a:pPr>
              <a:lnSpc>
                <a:spcPct val="132000"/>
              </a:lnSpc>
              <a:buSzPct val="100000"/>
              <a:buFont typeface="Wingdings" panose="05000000000000000000" pitchFamily="2" charset="2"/>
              <a:buChar char="Ø"/>
            </a:pPr>
            <a:r>
              <a:rPr lang="en-US" dirty="0">
                <a:solidFill>
                  <a:schemeClr val="accent5">
                    <a:lumMod val="60000"/>
                    <a:lumOff val="40000"/>
                  </a:schemeClr>
                </a:solidFill>
                <a:latin typeface="Roboto" pitchFamily="34" charset="0"/>
                <a:ea typeface="Roboto" pitchFamily="34" charset="-122"/>
                <a:cs typeface="Roboto" pitchFamily="34" charset="-120"/>
              </a:rPr>
              <a:t>Enhance customer lifetime value</a:t>
            </a:r>
            <a:endParaRPr lang="en-US" dirty="0">
              <a:solidFill>
                <a:schemeClr val="accent5">
                  <a:lumMod val="60000"/>
                  <a:lumOff val="40000"/>
                </a:schemeClr>
              </a:solidFill>
            </a:endParaRPr>
          </a:p>
          <a:p>
            <a:endParaRPr lang="en-IN" dirty="0"/>
          </a:p>
        </p:txBody>
      </p:sp>
    </p:spTree>
    <p:extLst>
      <p:ext uri="{BB962C8B-B14F-4D97-AF65-F5344CB8AC3E}">
        <p14:creationId xmlns:p14="http://schemas.microsoft.com/office/powerpoint/2010/main" val="2171713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50BC8-87D2-CDDB-B175-9D6CCA7FAC83}"/>
              </a:ext>
            </a:extLst>
          </p:cNvPr>
          <p:cNvSpPr>
            <a:spLocks noGrp="1"/>
          </p:cNvSpPr>
          <p:nvPr>
            <p:ph type="title"/>
          </p:nvPr>
        </p:nvSpPr>
        <p:spPr>
          <a:xfrm>
            <a:off x="2513485" y="532753"/>
            <a:ext cx="4359263" cy="745441"/>
          </a:xfrm>
        </p:spPr>
        <p:txBody>
          <a:bodyPr/>
          <a:lstStyle/>
          <a:p>
            <a:pPr algn="l"/>
            <a:r>
              <a:rPr lang="en-US" dirty="0"/>
              <a:t>4.Dataset Overview</a:t>
            </a:r>
            <a:endParaRPr lang="en-IN" dirty="0"/>
          </a:p>
        </p:txBody>
      </p:sp>
      <p:sp>
        <p:nvSpPr>
          <p:cNvPr id="3" name="TextBox 2">
            <a:extLst>
              <a:ext uri="{FF2B5EF4-FFF2-40B4-BE49-F238E27FC236}">
                <a16:creationId xmlns:a16="http://schemas.microsoft.com/office/drawing/2014/main" id="{5DAE986C-BA69-DDEF-F8C8-FB3C1838E247}"/>
              </a:ext>
            </a:extLst>
          </p:cNvPr>
          <p:cNvSpPr txBox="1"/>
          <p:nvPr/>
        </p:nvSpPr>
        <p:spPr>
          <a:xfrm>
            <a:off x="2329476" y="1366684"/>
            <a:ext cx="5988613" cy="646331"/>
          </a:xfrm>
          <a:prstGeom prst="rect">
            <a:avLst/>
          </a:prstGeom>
          <a:noFill/>
        </p:spPr>
        <p:txBody>
          <a:bodyPr wrap="square" rtlCol="0">
            <a:spAutoFit/>
          </a:bodyPr>
          <a:lstStyle/>
          <a:p>
            <a:r>
              <a:rPr lang="en-US" dirty="0">
                <a:solidFill>
                  <a:schemeClr val="accent5">
                    <a:lumMod val="60000"/>
                    <a:lumOff val="40000"/>
                  </a:schemeClr>
                </a:solidFill>
                <a:latin typeface="Roboto" pitchFamily="34" charset="0"/>
                <a:ea typeface="Roboto" pitchFamily="34" charset="-122"/>
                <a:cs typeface="Roboto" pitchFamily="34" charset="-120"/>
              </a:rPr>
              <a:t>European banking institution have </a:t>
            </a:r>
            <a:r>
              <a:rPr lang="en-US" b="1" dirty="0">
                <a:solidFill>
                  <a:schemeClr val="accent5">
                    <a:lumMod val="60000"/>
                    <a:lumOff val="40000"/>
                  </a:schemeClr>
                </a:solidFill>
                <a:latin typeface="Roboto" pitchFamily="34" charset="0"/>
                <a:ea typeface="Roboto" pitchFamily="34" charset="-122"/>
                <a:cs typeface="Roboto" pitchFamily="34" charset="-120"/>
              </a:rPr>
              <a:t>10,000 customers</a:t>
            </a:r>
            <a:endParaRPr lang="en-US" dirty="0">
              <a:solidFill>
                <a:schemeClr val="accent5">
                  <a:lumMod val="60000"/>
                  <a:lumOff val="40000"/>
                </a:schemeClr>
              </a:solidFill>
            </a:endParaRPr>
          </a:p>
          <a:p>
            <a:endParaRPr lang="en-IN" dirty="0"/>
          </a:p>
        </p:txBody>
      </p:sp>
      <p:graphicFrame>
        <p:nvGraphicFramePr>
          <p:cNvPr id="5" name="Table 4">
            <a:extLst>
              <a:ext uri="{FF2B5EF4-FFF2-40B4-BE49-F238E27FC236}">
                <a16:creationId xmlns:a16="http://schemas.microsoft.com/office/drawing/2014/main" id="{F3B3E44F-DC58-D9D2-029F-07F293BC6D88}"/>
              </a:ext>
            </a:extLst>
          </p:cNvPr>
          <p:cNvGraphicFramePr>
            <a:graphicFrameLocks noGrp="1"/>
          </p:cNvGraphicFramePr>
          <p:nvPr>
            <p:extLst>
              <p:ext uri="{D42A27DB-BD31-4B8C-83A1-F6EECF244321}">
                <p14:modId xmlns:p14="http://schemas.microsoft.com/office/powerpoint/2010/main" val="1529956398"/>
              </p:ext>
            </p:extLst>
          </p:nvPr>
        </p:nvGraphicFramePr>
        <p:xfrm>
          <a:off x="2093503" y="1967925"/>
          <a:ext cx="7826477" cy="3523386"/>
        </p:xfrm>
        <a:graphic>
          <a:graphicData uri="http://schemas.openxmlformats.org/drawingml/2006/table">
            <a:tbl>
              <a:tblPr firstRow="1" firstCol="1" bandRow="1">
                <a:tableStyleId>{5C22544A-7EE6-4342-B048-85BDC9FD1C3A}</a:tableStyleId>
              </a:tblPr>
              <a:tblGrid>
                <a:gridCol w="3711281">
                  <a:extLst>
                    <a:ext uri="{9D8B030D-6E8A-4147-A177-3AD203B41FA5}">
                      <a16:colId xmlns:a16="http://schemas.microsoft.com/office/drawing/2014/main" val="2110775591"/>
                    </a:ext>
                  </a:extLst>
                </a:gridCol>
                <a:gridCol w="4115196">
                  <a:extLst>
                    <a:ext uri="{9D8B030D-6E8A-4147-A177-3AD203B41FA5}">
                      <a16:colId xmlns:a16="http://schemas.microsoft.com/office/drawing/2014/main" val="1688394816"/>
                    </a:ext>
                  </a:extLst>
                </a:gridCol>
              </a:tblGrid>
              <a:tr h="284850">
                <a:tc>
                  <a:txBody>
                    <a:bodyPr/>
                    <a:lstStyle/>
                    <a:p>
                      <a:pPr algn="just">
                        <a:lnSpc>
                          <a:spcPct val="107000"/>
                        </a:lnSpc>
                        <a:spcAft>
                          <a:spcPts val="800"/>
                        </a:spcAft>
                        <a:buNone/>
                      </a:pPr>
                      <a:r>
                        <a:rPr lang="en-IN" sz="1200" kern="0">
                          <a:solidFill>
                            <a:schemeClr val="bg1"/>
                          </a:solidFill>
                          <a:effectLst/>
                        </a:rPr>
                        <a:t>Variable</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Description</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51229613"/>
                  </a:ext>
                </a:extLst>
              </a:tr>
              <a:tr h="269878">
                <a:tc>
                  <a:txBody>
                    <a:bodyPr/>
                    <a:lstStyle/>
                    <a:p>
                      <a:pPr algn="just">
                        <a:lnSpc>
                          <a:spcPct val="107000"/>
                        </a:lnSpc>
                        <a:spcAft>
                          <a:spcPts val="800"/>
                        </a:spcAft>
                        <a:buNone/>
                      </a:pPr>
                      <a:r>
                        <a:rPr lang="en-IN" sz="1200" kern="0">
                          <a:solidFill>
                            <a:schemeClr val="bg1"/>
                          </a:solidFill>
                          <a:effectLst/>
                        </a:rPr>
                        <a:t>Customer Id</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Unique customer identifier</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18940713"/>
                  </a:ext>
                </a:extLst>
              </a:tr>
              <a:tr h="269878">
                <a:tc>
                  <a:txBody>
                    <a:bodyPr/>
                    <a:lstStyle/>
                    <a:p>
                      <a:pPr algn="just">
                        <a:lnSpc>
                          <a:spcPct val="107000"/>
                        </a:lnSpc>
                        <a:spcAft>
                          <a:spcPts val="800"/>
                        </a:spcAft>
                        <a:buNone/>
                      </a:pPr>
                      <a:r>
                        <a:rPr lang="en-IN" sz="1200" kern="0">
                          <a:solidFill>
                            <a:schemeClr val="bg1"/>
                          </a:solidFill>
                          <a:effectLst/>
                        </a:rPr>
                        <a:t>Geography</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Customer location</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85544339"/>
                  </a:ext>
                </a:extLst>
              </a:tr>
              <a:tr h="269878">
                <a:tc>
                  <a:txBody>
                    <a:bodyPr/>
                    <a:lstStyle/>
                    <a:p>
                      <a:pPr algn="just">
                        <a:lnSpc>
                          <a:spcPct val="107000"/>
                        </a:lnSpc>
                        <a:spcAft>
                          <a:spcPts val="800"/>
                        </a:spcAft>
                        <a:buNone/>
                      </a:pPr>
                      <a:r>
                        <a:rPr lang="en-IN" sz="1200" kern="0">
                          <a:solidFill>
                            <a:schemeClr val="bg1"/>
                          </a:solidFill>
                          <a:effectLst/>
                        </a:rPr>
                        <a:t>Gender</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Customer gender</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20581061"/>
                  </a:ext>
                </a:extLst>
              </a:tr>
              <a:tr h="269878">
                <a:tc>
                  <a:txBody>
                    <a:bodyPr/>
                    <a:lstStyle/>
                    <a:p>
                      <a:pPr algn="just">
                        <a:lnSpc>
                          <a:spcPct val="107000"/>
                        </a:lnSpc>
                        <a:spcAft>
                          <a:spcPts val="800"/>
                        </a:spcAft>
                        <a:buNone/>
                      </a:pPr>
                      <a:r>
                        <a:rPr lang="en-IN" sz="1200" kern="0">
                          <a:solidFill>
                            <a:schemeClr val="bg1"/>
                          </a:solidFill>
                          <a:effectLst/>
                        </a:rPr>
                        <a:t>Age</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Customer age</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91617653"/>
                  </a:ext>
                </a:extLst>
              </a:tr>
              <a:tr h="269878">
                <a:tc>
                  <a:txBody>
                    <a:bodyPr/>
                    <a:lstStyle/>
                    <a:p>
                      <a:pPr algn="just">
                        <a:lnSpc>
                          <a:spcPct val="107000"/>
                        </a:lnSpc>
                        <a:spcAft>
                          <a:spcPts val="800"/>
                        </a:spcAft>
                        <a:buNone/>
                      </a:pPr>
                      <a:r>
                        <a:rPr lang="en-IN" sz="1200" kern="0">
                          <a:solidFill>
                            <a:schemeClr val="bg1"/>
                          </a:solidFill>
                          <a:effectLst/>
                        </a:rPr>
                        <a:t>Tenure</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Years with bank</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37309818"/>
                  </a:ext>
                </a:extLst>
              </a:tr>
              <a:tr h="269878">
                <a:tc>
                  <a:txBody>
                    <a:bodyPr/>
                    <a:lstStyle/>
                    <a:p>
                      <a:pPr algn="just">
                        <a:lnSpc>
                          <a:spcPct val="107000"/>
                        </a:lnSpc>
                        <a:spcAft>
                          <a:spcPts val="800"/>
                        </a:spcAft>
                        <a:buNone/>
                      </a:pPr>
                      <a:r>
                        <a:rPr lang="en-IN" sz="1200" kern="0">
                          <a:solidFill>
                            <a:schemeClr val="bg1"/>
                          </a:solidFill>
                          <a:effectLst/>
                        </a:rPr>
                        <a:t>Credit Score</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Customer credit score</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31579036"/>
                  </a:ext>
                </a:extLst>
              </a:tr>
              <a:tr h="269878">
                <a:tc>
                  <a:txBody>
                    <a:bodyPr/>
                    <a:lstStyle/>
                    <a:p>
                      <a:pPr algn="just">
                        <a:lnSpc>
                          <a:spcPct val="107000"/>
                        </a:lnSpc>
                        <a:spcAft>
                          <a:spcPts val="800"/>
                        </a:spcAft>
                        <a:buNone/>
                      </a:pPr>
                      <a:r>
                        <a:rPr lang="en-IN" sz="1200" kern="0">
                          <a:solidFill>
                            <a:schemeClr val="bg1"/>
                          </a:solidFill>
                          <a:effectLst/>
                        </a:rPr>
                        <a:t>Balance</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Account balance</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90675319"/>
                  </a:ext>
                </a:extLst>
              </a:tr>
              <a:tr h="269878">
                <a:tc>
                  <a:txBody>
                    <a:bodyPr/>
                    <a:lstStyle/>
                    <a:p>
                      <a:pPr algn="just">
                        <a:lnSpc>
                          <a:spcPct val="107000"/>
                        </a:lnSpc>
                        <a:spcAft>
                          <a:spcPts val="800"/>
                        </a:spcAft>
                        <a:buNone/>
                      </a:pPr>
                      <a:r>
                        <a:rPr lang="en-IN" sz="1200" kern="0">
                          <a:solidFill>
                            <a:schemeClr val="bg1"/>
                          </a:solidFill>
                          <a:effectLst/>
                        </a:rPr>
                        <a:t>Num Of Products</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Number of products owned</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34324300"/>
                  </a:ext>
                </a:extLst>
              </a:tr>
              <a:tr h="269878">
                <a:tc>
                  <a:txBody>
                    <a:bodyPr/>
                    <a:lstStyle/>
                    <a:p>
                      <a:pPr algn="just">
                        <a:lnSpc>
                          <a:spcPct val="107000"/>
                        </a:lnSpc>
                        <a:spcAft>
                          <a:spcPts val="800"/>
                        </a:spcAft>
                        <a:buNone/>
                      </a:pPr>
                      <a:r>
                        <a:rPr lang="en-IN" sz="1200" kern="0">
                          <a:solidFill>
                            <a:schemeClr val="bg1"/>
                          </a:solidFill>
                          <a:effectLst/>
                        </a:rPr>
                        <a:t>Has Cr. Card</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Credit card ownership</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56271671"/>
                  </a:ext>
                </a:extLst>
              </a:tr>
              <a:tr h="269878">
                <a:tc>
                  <a:txBody>
                    <a:bodyPr/>
                    <a:lstStyle/>
                    <a:p>
                      <a:pPr algn="just">
                        <a:lnSpc>
                          <a:spcPct val="107000"/>
                        </a:lnSpc>
                        <a:spcAft>
                          <a:spcPts val="800"/>
                        </a:spcAft>
                        <a:buNone/>
                      </a:pPr>
                      <a:r>
                        <a:rPr lang="en-IN" sz="1200" kern="0">
                          <a:solidFill>
                            <a:schemeClr val="bg1"/>
                          </a:solidFill>
                          <a:effectLst/>
                        </a:rPr>
                        <a:t>Is Active Member</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Customer engagement status</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35518113"/>
                  </a:ext>
                </a:extLst>
              </a:tr>
              <a:tr h="269878">
                <a:tc>
                  <a:txBody>
                    <a:bodyPr/>
                    <a:lstStyle/>
                    <a:p>
                      <a:pPr algn="just">
                        <a:lnSpc>
                          <a:spcPct val="107000"/>
                        </a:lnSpc>
                        <a:spcAft>
                          <a:spcPts val="800"/>
                        </a:spcAft>
                        <a:buNone/>
                      </a:pPr>
                      <a:r>
                        <a:rPr lang="en-IN" sz="1200" kern="0">
                          <a:solidFill>
                            <a:schemeClr val="bg1"/>
                          </a:solidFill>
                          <a:effectLst/>
                        </a:rPr>
                        <a:t>Estimated Salary</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a:solidFill>
                            <a:schemeClr val="bg1"/>
                          </a:solidFill>
                          <a:effectLst/>
                        </a:rPr>
                        <a:t>Annual estimated salary</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06187723"/>
                  </a:ext>
                </a:extLst>
              </a:tr>
              <a:tr h="269878">
                <a:tc>
                  <a:txBody>
                    <a:bodyPr/>
                    <a:lstStyle/>
                    <a:p>
                      <a:pPr algn="just">
                        <a:lnSpc>
                          <a:spcPct val="107000"/>
                        </a:lnSpc>
                        <a:spcAft>
                          <a:spcPts val="800"/>
                        </a:spcAft>
                        <a:buNone/>
                      </a:pPr>
                      <a:r>
                        <a:rPr lang="en-IN" sz="1200" kern="0">
                          <a:solidFill>
                            <a:schemeClr val="bg1"/>
                          </a:solidFill>
                          <a:effectLst/>
                        </a:rPr>
                        <a:t>Exited</a:t>
                      </a:r>
                      <a:endParaRPr lang="en-IN" sz="11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just">
                        <a:lnSpc>
                          <a:spcPct val="107000"/>
                        </a:lnSpc>
                        <a:spcAft>
                          <a:spcPts val="800"/>
                        </a:spcAft>
                        <a:buNone/>
                      </a:pPr>
                      <a:r>
                        <a:rPr lang="en-IN" sz="1200" kern="0" dirty="0">
                          <a:solidFill>
                            <a:schemeClr val="bg1"/>
                          </a:solidFill>
                          <a:effectLst/>
                        </a:rPr>
                        <a:t>Churn indicator</a:t>
                      </a:r>
                      <a:endParaRPr lang="en-IN"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6544712"/>
                  </a:ext>
                </a:extLst>
              </a:tr>
            </a:tbl>
          </a:graphicData>
        </a:graphic>
      </p:graphicFrame>
      <p:sp>
        <p:nvSpPr>
          <p:cNvPr id="6" name="Rectangle 1">
            <a:extLst>
              <a:ext uri="{FF2B5EF4-FFF2-40B4-BE49-F238E27FC236}">
                <a16:creationId xmlns:a16="http://schemas.microsoft.com/office/drawing/2014/main" id="{E5154AD0-DD5A-6396-3EBD-452389753002}"/>
              </a:ext>
            </a:extLst>
          </p:cNvPr>
          <p:cNvSpPr>
            <a:spLocks noChangeArrowheads="1"/>
          </p:cNvSpPr>
          <p:nvPr/>
        </p:nvSpPr>
        <p:spPr bwMode="auto">
          <a:xfrm>
            <a:off x="2439066" y="5611505"/>
            <a:ext cx="6242818"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Target Variable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Exited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1 = Customer Churned</a:t>
            </a:r>
            <a:endParaRPr kumimoji="0" lang="en-US" altLang="en-US" sz="11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0 = Customer Retained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6687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C58D9F-5843-ECD0-C88A-E59B6940DD85}"/>
              </a:ext>
            </a:extLst>
          </p:cNvPr>
          <p:cNvSpPr txBox="1"/>
          <p:nvPr/>
        </p:nvSpPr>
        <p:spPr>
          <a:xfrm>
            <a:off x="2054941" y="550606"/>
            <a:ext cx="6656439" cy="584775"/>
          </a:xfrm>
          <a:prstGeom prst="rect">
            <a:avLst/>
          </a:prstGeom>
          <a:noFill/>
        </p:spPr>
        <p:txBody>
          <a:bodyPr wrap="square" rtlCol="0">
            <a:spAutoFit/>
          </a:bodyPr>
          <a:lstStyle/>
          <a:p>
            <a:r>
              <a:rPr lang="en-US" sz="3200" b="1" dirty="0"/>
              <a:t>5</a:t>
            </a:r>
            <a:r>
              <a:rPr lang="en-US" sz="3200" b="1" dirty="0">
                <a:effectLst>
                  <a:outerShdw blurRad="38100" dist="38100" dir="2700000" algn="tl">
                    <a:srgbClr val="000000">
                      <a:alpha val="43137"/>
                    </a:srgbClr>
                  </a:outerShdw>
                </a:effectLst>
              </a:rPr>
              <a:t>. Methodology</a:t>
            </a:r>
            <a:endParaRPr lang="en-IN" sz="3200" b="1" dirty="0">
              <a:effectLst>
                <a:outerShdw blurRad="38100" dist="38100" dir="2700000" algn="tl">
                  <a:srgbClr val="000000">
                    <a:alpha val="43137"/>
                  </a:srgbClr>
                </a:outerShdw>
              </a:effectLst>
            </a:endParaRPr>
          </a:p>
        </p:txBody>
      </p:sp>
      <p:graphicFrame>
        <p:nvGraphicFramePr>
          <p:cNvPr id="4" name="Diagram 3">
            <a:extLst>
              <a:ext uri="{FF2B5EF4-FFF2-40B4-BE49-F238E27FC236}">
                <a16:creationId xmlns:a16="http://schemas.microsoft.com/office/drawing/2014/main" id="{090BAA1E-29CF-8B33-C291-401DD74DC58D}"/>
              </a:ext>
            </a:extLst>
          </p:cNvPr>
          <p:cNvGraphicFramePr/>
          <p:nvPr>
            <p:extLst>
              <p:ext uri="{D42A27DB-BD31-4B8C-83A1-F6EECF244321}">
                <p14:modId xmlns:p14="http://schemas.microsoft.com/office/powerpoint/2010/main" val="1594657832"/>
              </p:ext>
            </p:extLst>
          </p:nvPr>
        </p:nvGraphicFramePr>
        <p:xfrm>
          <a:off x="2009059" y="1681316"/>
          <a:ext cx="8128000" cy="44078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0013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C45EF-1B6F-5682-3EA9-0AC21716FFEE}"/>
              </a:ext>
            </a:extLst>
          </p:cNvPr>
          <p:cNvSpPr>
            <a:spLocks noGrp="1"/>
          </p:cNvSpPr>
          <p:nvPr>
            <p:ph type="title"/>
          </p:nvPr>
        </p:nvSpPr>
        <p:spPr>
          <a:xfrm>
            <a:off x="2611808" y="808056"/>
            <a:ext cx="7958331" cy="637285"/>
          </a:xfrm>
        </p:spPr>
        <p:txBody>
          <a:bodyPr>
            <a:normAutofit/>
          </a:bodyPr>
          <a:lstStyle/>
          <a:p>
            <a:pPr algn="l"/>
            <a:r>
              <a:rPr lang="en-US" dirty="0"/>
              <a:t>6.</a:t>
            </a:r>
            <a:r>
              <a:rPr lang="en-US" b="1" dirty="0">
                <a:effectLst>
                  <a:outerShdw blurRad="38100" dist="38100" dir="2700000" algn="tl">
                    <a:srgbClr val="000000">
                      <a:alpha val="43137"/>
                    </a:srgbClr>
                  </a:outerShdw>
                </a:effectLst>
              </a:rPr>
              <a:t>Excel Analysis</a:t>
            </a:r>
            <a:endParaRPr lang="en-IN" b="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0C5FFD6E-EA35-7B1C-744A-C35D9334B70F}"/>
              </a:ext>
            </a:extLst>
          </p:cNvPr>
          <p:cNvSpPr>
            <a:spLocks noGrp="1"/>
          </p:cNvSpPr>
          <p:nvPr>
            <p:ph idx="1"/>
          </p:nvPr>
        </p:nvSpPr>
        <p:spPr>
          <a:xfrm>
            <a:off x="2611808" y="1602658"/>
            <a:ext cx="7958331" cy="4447286"/>
          </a:xfrm>
        </p:spPr>
        <p:txBody>
          <a:bodyPr/>
          <a:lstStyle/>
          <a:p>
            <a:r>
              <a:rPr lang="en-US" dirty="0"/>
              <a:t>.</a:t>
            </a:r>
            <a:endParaRPr lang="en-IN" dirty="0"/>
          </a:p>
        </p:txBody>
      </p:sp>
      <p:pic>
        <p:nvPicPr>
          <p:cNvPr id="4" name="Image 1" descr="preencoded.png">
            <a:extLst>
              <a:ext uri="{FF2B5EF4-FFF2-40B4-BE49-F238E27FC236}">
                <a16:creationId xmlns:a16="http://schemas.microsoft.com/office/drawing/2014/main" id="{46167321-2FA5-9BE4-43FD-2E53528A861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11808" y="1602658"/>
            <a:ext cx="7958330" cy="1740310"/>
          </a:xfrm>
          <a:prstGeom prst="rect">
            <a:avLst/>
          </a:prstGeom>
        </p:spPr>
      </p:pic>
      <p:sp>
        <p:nvSpPr>
          <p:cNvPr id="5" name="Text 1">
            <a:extLst>
              <a:ext uri="{FF2B5EF4-FFF2-40B4-BE49-F238E27FC236}">
                <a16:creationId xmlns:a16="http://schemas.microsoft.com/office/drawing/2014/main" id="{1184DD18-3BE4-E3C6-9831-4958BDD0DF0C}"/>
              </a:ext>
            </a:extLst>
          </p:cNvPr>
          <p:cNvSpPr/>
          <p:nvPr/>
        </p:nvSpPr>
        <p:spPr>
          <a:xfrm>
            <a:off x="3010607" y="1876023"/>
            <a:ext cx="1994011" cy="453627"/>
          </a:xfrm>
          <a:prstGeom prst="rect">
            <a:avLst/>
          </a:prstGeom>
          <a:noFill/>
          <a:ln/>
        </p:spPr>
        <p:txBody>
          <a:bodyPr wrap="none" lIns="0" tIns="0" rIns="0" bIns="0" rtlCol="0" anchor="t"/>
          <a:lstStyle/>
          <a:p>
            <a:pPr marL="0" indent="0" algn="l">
              <a:lnSpc>
                <a:spcPct val="104000"/>
              </a:lnSpc>
              <a:buNone/>
            </a:pPr>
            <a:r>
              <a:rPr lang="en-US" sz="3200" u="sng" dirty="0">
                <a:solidFill>
                  <a:srgbClr val="15213F"/>
                </a:solidFill>
                <a:latin typeface="Roboto Slab" pitchFamily="2" charset="0"/>
                <a:ea typeface="Roboto Slab" pitchFamily="2" charset="0"/>
                <a:cs typeface="Roboto Slab" pitchFamily="2" charset="0"/>
              </a:rPr>
              <a:t>Derived Fields</a:t>
            </a:r>
            <a:endParaRPr lang="en-US" sz="3200" u="sng" dirty="0">
              <a:latin typeface="Roboto Slab" pitchFamily="2" charset="0"/>
              <a:ea typeface="Roboto Slab" pitchFamily="2" charset="0"/>
              <a:cs typeface="Roboto Slab" pitchFamily="2" charset="0"/>
            </a:endParaRPr>
          </a:p>
        </p:txBody>
      </p:sp>
      <p:sp>
        <p:nvSpPr>
          <p:cNvPr id="6" name="Text 2">
            <a:extLst>
              <a:ext uri="{FF2B5EF4-FFF2-40B4-BE49-F238E27FC236}">
                <a16:creationId xmlns:a16="http://schemas.microsoft.com/office/drawing/2014/main" id="{EA85C2C3-57BD-4A17-5CEB-030945F9E9FA}"/>
              </a:ext>
            </a:extLst>
          </p:cNvPr>
          <p:cNvSpPr/>
          <p:nvPr/>
        </p:nvSpPr>
        <p:spPr>
          <a:xfrm>
            <a:off x="3010608" y="2493410"/>
            <a:ext cx="7185444" cy="453628"/>
          </a:xfrm>
          <a:prstGeom prst="rect">
            <a:avLst/>
          </a:prstGeom>
          <a:noFill/>
          <a:ln/>
        </p:spPr>
        <p:txBody>
          <a:bodyPr wrap="square" lIns="0" tIns="0" rIns="0" bIns="0" rtlCol="0" anchor="t">
            <a:noAutofit/>
          </a:bodyPr>
          <a:lstStyle/>
          <a:p>
            <a:pPr marL="0" indent="0" algn="l">
              <a:lnSpc>
                <a:spcPct val="133000"/>
              </a:lnSpc>
              <a:buNone/>
            </a:pPr>
            <a:r>
              <a:rPr lang="en-US" dirty="0">
                <a:solidFill>
                  <a:srgbClr val="15213F"/>
                </a:solidFill>
                <a:latin typeface="Tahoma" panose="020B0604030504040204" pitchFamily="34" charset="0"/>
                <a:ea typeface="Tahoma" panose="020B0604030504040204" pitchFamily="34" charset="0"/>
                <a:cs typeface="Tahoma" panose="020B0604030504040204" pitchFamily="34" charset="0"/>
              </a:rPr>
              <a:t>Engagement Status, Product Category, Balance Category, Customer Profile</a:t>
            </a:r>
            <a:endParaRPr lang="en-US" dirty="0">
              <a:latin typeface="Tahoma" panose="020B0604030504040204" pitchFamily="34" charset="0"/>
              <a:ea typeface="Tahoma" panose="020B0604030504040204" pitchFamily="34" charset="0"/>
              <a:cs typeface="Tahoma" panose="020B0604030504040204" pitchFamily="34" charset="0"/>
            </a:endParaRPr>
          </a:p>
        </p:txBody>
      </p:sp>
      <p:pic>
        <p:nvPicPr>
          <p:cNvPr id="7" name="Image 3" descr="preencoded.png">
            <a:extLst>
              <a:ext uri="{FF2B5EF4-FFF2-40B4-BE49-F238E27FC236}">
                <a16:creationId xmlns:a16="http://schemas.microsoft.com/office/drawing/2014/main" id="{DDB85E91-34CB-9C7C-330B-A678327C68A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33711" y="3837790"/>
            <a:ext cx="7936427" cy="1926020"/>
          </a:xfrm>
          <a:prstGeom prst="rect">
            <a:avLst/>
          </a:prstGeom>
        </p:spPr>
      </p:pic>
      <p:sp>
        <p:nvSpPr>
          <p:cNvPr id="8" name="Text 5">
            <a:extLst>
              <a:ext uri="{FF2B5EF4-FFF2-40B4-BE49-F238E27FC236}">
                <a16:creationId xmlns:a16="http://schemas.microsoft.com/office/drawing/2014/main" id="{57636883-06A1-36E4-6122-86ABAAEC9884}"/>
              </a:ext>
            </a:extLst>
          </p:cNvPr>
          <p:cNvSpPr/>
          <p:nvPr/>
        </p:nvSpPr>
        <p:spPr>
          <a:xfrm>
            <a:off x="2870719" y="3998598"/>
            <a:ext cx="2965854" cy="394293"/>
          </a:xfrm>
          <a:prstGeom prst="rect">
            <a:avLst/>
          </a:prstGeom>
          <a:noFill/>
          <a:ln/>
        </p:spPr>
        <p:txBody>
          <a:bodyPr wrap="none" lIns="0" tIns="0" rIns="0" bIns="0" rtlCol="0" anchor="t"/>
          <a:lstStyle/>
          <a:p>
            <a:pPr marL="0" indent="0" algn="l">
              <a:lnSpc>
                <a:spcPct val="104000"/>
              </a:lnSpc>
              <a:buNone/>
            </a:pPr>
            <a:r>
              <a:rPr lang="en-US" sz="3200" u="sng" dirty="0">
                <a:solidFill>
                  <a:srgbClr val="15213F"/>
                </a:solidFill>
                <a:latin typeface="Roboto Slab" pitchFamily="34" charset="0"/>
                <a:ea typeface="Roboto Slab" pitchFamily="34" charset="-122"/>
                <a:cs typeface="Roboto Slab" pitchFamily="34" charset="-120"/>
              </a:rPr>
              <a:t>Customer Profiles</a:t>
            </a:r>
            <a:endParaRPr lang="en-US" sz="3200" u="sng" dirty="0"/>
          </a:p>
        </p:txBody>
      </p:sp>
      <p:sp>
        <p:nvSpPr>
          <p:cNvPr id="9" name="Text 6">
            <a:extLst>
              <a:ext uri="{FF2B5EF4-FFF2-40B4-BE49-F238E27FC236}">
                <a16:creationId xmlns:a16="http://schemas.microsoft.com/office/drawing/2014/main" id="{76296FC6-2B0D-E4AC-2F2F-3E14FF9DF9CF}"/>
              </a:ext>
            </a:extLst>
          </p:cNvPr>
          <p:cNvSpPr/>
          <p:nvPr/>
        </p:nvSpPr>
        <p:spPr>
          <a:xfrm>
            <a:off x="2925458" y="4800800"/>
            <a:ext cx="7270594" cy="394293"/>
          </a:xfrm>
          <a:prstGeom prst="rect">
            <a:avLst/>
          </a:prstGeom>
          <a:noFill/>
          <a:ln/>
        </p:spPr>
        <p:txBody>
          <a:bodyPr wrap="square" lIns="0" tIns="0" rIns="0" bIns="0" rtlCol="0" anchor="t">
            <a:noAutofit/>
          </a:bodyPr>
          <a:lstStyle/>
          <a:p>
            <a:pPr marL="0" indent="0" algn="l">
              <a:lnSpc>
                <a:spcPct val="133000"/>
              </a:lnSpc>
              <a:buNone/>
            </a:pPr>
            <a:r>
              <a:rPr lang="en-US" dirty="0">
                <a:solidFill>
                  <a:srgbClr val="15213F"/>
                </a:solidFill>
                <a:latin typeface="Tahoma" panose="020B0604030504040204" pitchFamily="34" charset="0"/>
                <a:ea typeface="Tahoma" panose="020B0604030504040204" pitchFamily="34" charset="0"/>
                <a:cs typeface="Tahoma" panose="020B0604030504040204" pitchFamily="34" charset="0"/>
              </a:rPr>
              <a:t>Active Engaged · Inactive Disengaged · Active Low-Product · Inactive High-Balance</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62352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E52B1-2D2D-64FB-2369-D76D76DECBBC}"/>
              </a:ext>
            </a:extLst>
          </p:cNvPr>
          <p:cNvSpPr>
            <a:spLocks noGrp="1"/>
          </p:cNvSpPr>
          <p:nvPr>
            <p:ph type="title"/>
          </p:nvPr>
        </p:nvSpPr>
        <p:spPr>
          <a:xfrm>
            <a:off x="2543873" y="524094"/>
            <a:ext cx="7958331" cy="676615"/>
          </a:xfrm>
        </p:spPr>
        <p:txBody>
          <a:bodyPr/>
          <a:lstStyle/>
          <a:p>
            <a:pPr algn="l"/>
            <a:r>
              <a:rPr lang="en-US" dirty="0"/>
              <a:t>7.</a:t>
            </a:r>
            <a:r>
              <a:rPr lang="en-US" b="1" dirty="0">
                <a:effectLst>
                  <a:outerShdw blurRad="38100" dist="38100" dir="2700000" algn="tl">
                    <a:srgbClr val="000000">
                      <a:alpha val="43137"/>
                    </a:srgbClr>
                  </a:outerShdw>
                </a:effectLst>
              </a:rPr>
              <a:t>SQL Analysis</a:t>
            </a:r>
            <a:endParaRPr lang="en-IN" b="1" dirty="0">
              <a:effectLst>
                <a:outerShdw blurRad="38100" dist="38100" dir="2700000" algn="tl">
                  <a:srgbClr val="000000">
                    <a:alpha val="43137"/>
                  </a:srgbClr>
                </a:outerShdw>
              </a:effectLst>
            </a:endParaRPr>
          </a:p>
        </p:txBody>
      </p:sp>
      <p:sp>
        <p:nvSpPr>
          <p:cNvPr id="16" name="Rectangle 2">
            <a:extLst>
              <a:ext uri="{FF2B5EF4-FFF2-40B4-BE49-F238E27FC236}">
                <a16:creationId xmlns:a16="http://schemas.microsoft.com/office/drawing/2014/main" id="{26229B60-8776-5426-70C9-432EAB8064D8}"/>
              </a:ext>
            </a:extLst>
          </p:cNvPr>
          <p:cNvSpPr>
            <a:spLocks noChangeArrowheads="1"/>
          </p:cNvSpPr>
          <p:nvPr/>
        </p:nvSpPr>
        <p:spPr bwMode="auto">
          <a:xfrm>
            <a:off x="2468557" y="1021054"/>
            <a:ext cx="8887700"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SQL was used to perform detailed customer retention analysis</a:t>
            </a:r>
            <a:r>
              <a:rPr kumimoji="0" lang="en-US" altLang="en-US" sz="12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latin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sng"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Key Queries Performed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sng"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Overall Churn Rate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49" name="Picture 1">
            <a:extLst>
              <a:ext uri="{FF2B5EF4-FFF2-40B4-BE49-F238E27FC236}">
                <a16:creationId xmlns:a16="http://schemas.microsoft.com/office/drawing/2014/main" id="{355C801B-F1A2-EF7A-FBCB-825F355F84D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985" r="44560" b="6195"/>
          <a:stretch>
            <a:fillRect/>
          </a:stretch>
        </p:blipFill>
        <p:spPr bwMode="auto">
          <a:xfrm>
            <a:off x="2739628" y="2689354"/>
            <a:ext cx="2923753" cy="108080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3">
            <a:extLst>
              <a:ext uri="{FF2B5EF4-FFF2-40B4-BE49-F238E27FC236}">
                <a16:creationId xmlns:a16="http://schemas.microsoft.com/office/drawing/2014/main" id="{5328D162-7F57-897C-0807-3B0B0C99894F}"/>
              </a:ext>
            </a:extLst>
          </p:cNvPr>
          <p:cNvSpPr>
            <a:spLocks noChangeArrowheads="1"/>
          </p:cNvSpPr>
          <p:nvPr/>
        </p:nvSpPr>
        <p:spPr bwMode="auto">
          <a:xfrm flipV="1">
            <a:off x="9419303" y="2720090"/>
            <a:ext cx="13273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5">
            <a:extLst>
              <a:ext uri="{FF2B5EF4-FFF2-40B4-BE49-F238E27FC236}">
                <a16:creationId xmlns:a16="http://schemas.microsoft.com/office/drawing/2014/main" id="{47BE8C87-250A-F3FE-0219-E3D486F7FF07}"/>
              </a:ext>
            </a:extLst>
          </p:cNvPr>
          <p:cNvSpPr>
            <a:spLocks noChangeArrowheads="1"/>
          </p:cNvSpPr>
          <p:nvPr/>
        </p:nvSpPr>
        <p:spPr bwMode="auto">
          <a:xfrm>
            <a:off x="2498714" y="3990288"/>
            <a:ext cx="27706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2.</a:t>
            </a:r>
            <a:r>
              <a:rPr kumimoji="0" lang="en-US" altLang="en-US" b="0" i="0" u="sng"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rPr>
              <a:t>Churn by Product Count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2" name="Picture 2">
            <a:extLst>
              <a:ext uri="{FF2B5EF4-FFF2-40B4-BE49-F238E27FC236}">
                <a16:creationId xmlns:a16="http://schemas.microsoft.com/office/drawing/2014/main" id="{9BDBA3D2-432C-BC4E-9663-FEB77E1A68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64" t="11655" r="31451"/>
          <a:stretch>
            <a:fillRect/>
          </a:stretch>
        </p:blipFill>
        <p:spPr bwMode="auto">
          <a:xfrm>
            <a:off x="2543873" y="4717831"/>
            <a:ext cx="3866759" cy="1616075"/>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6">
            <a:extLst>
              <a:ext uri="{FF2B5EF4-FFF2-40B4-BE49-F238E27FC236}">
                <a16:creationId xmlns:a16="http://schemas.microsoft.com/office/drawing/2014/main" id="{BA3684BF-0E61-579E-5E7E-A4E2D12B8C48}"/>
              </a:ext>
            </a:extLst>
          </p:cNvPr>
          <p:cNvSpPr>
            <a:spLocks noChangeArrowheads="1"/>
          </p:cNvSpPr>
          <p:nvPr/>
        </p:nvSpPr>
        <p:spPr bwMode="auto">
          <a:xfrm>
            <a:off x="7287431" y="145876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TextBox 22">
            <a:extLst>
              <a:ext uri="{FF2B5EF4-FFF2-40B4-BE49-F238E27FC236}">
                <a16:creationId xmlns:a16="http://schemas.microsoft.com/office/drawing/2014/main" id="{581F432E-6D35-88D2-179A-B5A94BC301FC}"/>
              </a:ext>
            </a:extLst>
          </p:cNvPr>
          <p:cNvSpPr txBox="1"/>
          <p:nvPr/>
        </p:nvSpPr>
        <p:spPr>
          <a:xfrm>
            <a:off x="6912407" y="2563069"/>
            <a:ext cx="3942736" cy="369332"/>
          </a:xfrm>
          <a:prstGeom prst="rect">
            <a:avLst/>
          </a:prstGeom>
          <a:noFill/>
        </p:spPr>
        <p:txBody>
          <a:bodyPr wrap="square" rtlCol="0">
            <a:spAutoFit/>
          </a:bodyPr>
          <a:lstStyle/>
          <a:p>
            <a:r>
              <a:rPr lang="en-US" dirty="0"/>
              <a:t>3</a:t>
            </a:r>
            <a:r>
              <a:rPr lang="en-US" u="sng" dirty="0"/>
              <a:t>.</a:t>
            </a:r>
            <a:r>
              <a:rPr lang="en-US" u="sng" dirty="0">
                <a:latin typeface="Aptos" panose="020B0004020202020204" pitchFamily="34" charset="0"/>
              </a:rPr>
              <a:t>Active vs Inactive customer Analysis</a:t>
            </a:r>
            <a:endParaRPr lang="en-IN" u="sng" dirty="0">
              <a:latin typeface="Aptos" panose="020B0004020202020204" pitchFamily="34" charset="0"/>
            </a:endParaRPr>
          </a:p>
        </p:txBody>
      </p:sp>
      <p:pic>
        <p:nvPicPr>
          <p:cNvPr id="25" name="Picture 24">
            <a:extLst>
              <a:ext uri="{FF2B5EF4-FFF2-40B4-BE49-F238E27FC236}">
                <a16:creationId xmlns:a16="http://schemas.microsoft.com/office/drawing/2014/main" id="{31DB8190-3A14-FAF7-DA4F-F0FC0EC5419A}"/>
              </a:ext>
            </a:extLst>
          </p:cNvPr>
          <p:cNvPicPr>
            <a:picLocks noChangeAspect="1"/>
          </p:cNvPicPr>
          <p:nvPr/>
        </p:nvPicPr>
        <p:blipFill rotWithShape="1">
          <a:blip r:embed="rId4">
            <a:extLst>
              <a:ext uri="{28A0092B-C50C-407E-A947-70E740481C1C}">
                <a14:useLocalDpi xmlns:a14="http://schemas.microsoft.com/office/drawing/2010/main" val="0"/>
              </a:ext>
            </a:extLst>
          </a:blip>
          <a:srcRect t="18413" r="41135"/>
          <a:stretch>
            <a:fillRect/>
          </a:stretch>
        </p:blipFill>
        <p:spPr bwMode="auto">
          <a:xfrm>
            <a:off x="7312286" y="3012444"/>
            <a:ext cx="2770695" cy="11817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94816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AB0732-62B4-1A02-909F-52570168F025}"/>
              </a:ext>
            </a:extLst>
          </p:cNvPr>
          <p:cNvSpPr txBox="1"/>
          <p:nvPr/>
        </p:nvSpPr>
        <p:spPr>
          <a:xfrm>
            <a:off x="1946787" y="452284"/>
            <a:ext cx="5486401" cy="646331"/>
          </a:xfrm>
          <a:prstGeom prst="rect">
            <a:avLst/>
          </a:prstGeom>
          <a:noFill/>
        </p:spPr>
        <p:txBody>
          <a:bodyPr wrap="square" rtlCol="0">
            <a:spAutoFit/>
          </a:bodyPr>
          <a:lstStyle/>
          <a:p>
            <a:r>
              <a:rPr lang="en-IN" dirty="0"/>
              <a:t> 4.</a:t>
            </a:r>
            <a:r>
              <a:rPr lang="en-IN" u="sng" dirty="0"/>
              <a:t>Geography-wise Churn Analysis</a:t>
            </a:r>
            <a:endParaRPr lang="en-IN" dirty="0"/>
          </a:p>
          <a:p>
            <a:endParaRPr lang="en-IN" dirty="0"/>
          </a:p>
        </p:txBody>
      </p:sp>
      <p:sp>
        <p:nvSpPr>
          <p:cNvPr id="3" name="TextBox 2">
            <a:extLst>
              <a:ext uri="{FF2B5EF4-FFF2-40B4-BE49-F238E27FC236}">
                <a16:creationId xmlns:a16="http://schemas.microsoft.com/office/drawing/2014/main" id="{DAD29E12-9F84-8D83-4542-B6603667C109}"/>
              </a:ext>
            </a:extLst>
          </p:cNvPr>
          <p:cNvSpPr txBox="1"/>
          <p:nvPr/>
        </p:nvSpPr>
        <p:spPr>
          <a:xfrm>
            <a:off x="2035278" y="2602951"/>
            <a:ext cx="5397910" cy="646331"/>
          </a:xfrm>
          <a:prstGeom prst="rect">
            <a:avLst/>
          </a:prstGeom>
          <a:noFill/>
        </p:spPr>
        <p:txBody>
          <a:bodyPr wrap="square" rtlCol="0">
            <a:spAutoFit/>
          </a:bodyPr>
          <a:lstStyle/>
          <a:p>
            <a:r>
              <a:rPr lang="en-US" dirty="0"/>
              <a:t>5.</a:t>
            </a:r>
            <a:r>
              <a:rPr lang="en-IN" u="sng" dirty="0"/>
              <a:t> High Balance Inactive Customer Identification</a:t>
            </a:r>
            <a:endParaRPr lang="en-IN" dirty="0"/>
          </a:p>
          <a:p>
            <a:endParaRPr lang="en-IN" dirty="0"/>
          </a:p>
        </p:txBody>
      </p:sp>
      <p:pic>
        <p:nvPicPr>
          <p:cNvPr id="4" name="Picture 3">
            <a:extLst>
              <a:ext uri="{FF2B5EF4-FFF2-40B4-BE49-F238E27FC236}">
                <a16:creationId xmlns:a16="http://schemas.microsoft.com/office/drawing/2014/main" id="{B2A2AE0F-DC62-C8A5-5650-88580249CCBF}"/>
              </a:ext>
            </a:extLst>
          </p:cNvPr>
          <p:cNvPicPr>
            <a:picLocks noChangeAspect="1"/>
          </p:cNvPicPr>
          <p:nvPr/>
        </p:nvPicPr>
        <p:blipFill rotWithShape="1">
          <a:blip r:embed="rId2">
            <a:extLst>
              <a:ext uri="{28A0092B-C50C-407E-A947-70E740481C1C}">
                <a14:useLocalDpi xmlns:a14="http://schemas.microsoft.com/office/drawing/2010/main" val="0"/>
              </a:ext>
            </a:extLst>
          </a:blip>
          <a:srcRect t="8362" r="40222" b="15448"/>
          <a:stretch>
            <a:fillRect/>
          </a:stretch>
        </p:blipFill>
        <p:spPr bwMode="auto">
          <a:xfrm>
            <a:off x="2497394" y="965528"/>
            <a:ext cx="3426194" cy="1249680"/>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EF8D9B4A-C4DF-DFD5-3822-7EC7E3202F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7394" y="3249282"/>
            <a:ext cx="8060952" cy="2643190"/>
          </a:xfrm>
          <a:prstGeom prst="rect">
            <a:avLst/>
          </a:prstGeom>
        </p:spPr>
      </p:pic>
    </p:spTree>
    <p:extLst>
      <p:ext uri="{BB962C8B-B14F-4D97-AF65-F5344CB8AC3E}">
        <p14:creationId xmlns:p14="http://schemas.microsoft.com/office/powerpoint/2010/main" val="115229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0A241-87E7-553E-8768-19DEED03EFE5}"/>
              </a:ext>
            </a:extLst>
          </p:cNvPr>
          <p:cNvSpPr>
            <a:spLocks noGrp="1"/>
          </p:cNvSpPr>
          <p:nvPr>
            <p:ph type="title"/>
          </p:nvPr>
        </p:nvSpPr>
        <p:spPr>
          <a:xfrm>
            <a:off x="2505801" y="678937"/>
            <a:ext cx="7958331" cy="676615"/>
          </a:xfrm>
        </p:spPr>
        <p:txBody>
          <a:bodyPr>
            <a:normAutofit/>
          </a:bodyPr>
          <a:lstStyle/>
          <a:p>
            <a:pPr algn="l"/>
            <a:r>
              <a:rPr lang="en-US" b="1" dirty="0">
                <a:effectLst>
                  <a:outerShdw blurRad="38100" dist="38100" dir="2700000" algn="tl">
                    <a:srgbClr val="000000">
                      <a:alpha val="43137"/>
                    </a:srgbClr>
                  </a:outerShdw>
                </a:effectLst>
              </a:rPr>
              <a:t>8.Dashboard</a:t>
            </a:r>
            <a:endParaRPr lang="en-IN" b="1" dirty="0">
              <a:effectLst>
                <a:outerShdw blurRad="38100" dist="38100" dir="2700000" algn="tl">
                  <a:srgbClr val="000000">
                    <a:alpha val="43137"/>
                  </a:srgbClr>
                </a:outerShdw>
              </a:effectLst>
            </a:endParaRPr>
          </a:p>
        </p:txBody>
      </p:sp>
      <p:pic>
        <p:nvPicPr>
          <p:cNvPr id="4" name="Content Placeholder 3">
            <a:extLst>
              <a:ext uri="{FF2B5EF4-FFF2-40B4-BE49-F238E27FC236}">
                <a16:creationId xmlns:a16="http://schemas.microsoft.com/office/drawing/2014/main" id="{DB288129-D263-D245-F608-5BF4B19348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35299" y="1789830"/>
            <a:ext cx="7643074" cy="4486275"/>
          </a:xfrm>
          <a:prstGeom prst="rect">
            <a:avLst/>
          </a:prstGeom>
        </p:spPr>
      </p:pic>
      <p:sp>
        <p:nvSpPr>
          <p:cNvPr id="5" name="TextBox 4">
            <a:extLst>
              <a:ext uri="{FF2B5EF4-FFF2-40B4-BE49-F238E27FC236}">
                <a16:creationId xmlns:a16="http://schemas.microsoft.com/office/drawing/2014/main" id="{16A52C6E-75D7-359C-6FEE-3C3BA5B0CEAD}"/>
              </a:ext>
            </a:extLst>
          </p:cNvPr>
          <p:cNvSpPr txBox="1"/>
          <p:nvPr/>
        </p:nvSpPr>
        <p:spPr>
          <a:xfrm>
            <a:off x="2726665" y="1355552"/>
            <a:ext cx="6738669" cy="646331"/>
          </a:xfrm>
          <a:prstGeom prst="rect">
            <a:avLst/>
          </a:prstGeom>
          <a:noFill/>
        </p:spPr>
        <p:txBody>
          <a:bodyPr wrap="square" rtlCol="0">
            <a:spAutoFit/>
          </a:bodyPr>
          <a:lstStyle/>
          <a:p>
            <a:r>
              <a:rPr lang="en-IN" b="1" dirty="0"/>
              <a:t> (A) </a:t>
            </a:r>
            <a:r>
              <a:rPr lang="en-IN" b="1" u="sng" dirty="0"/>
              <a:t>Customer Churn Overview</a:t>
            </a:r>
            <a:endParaRPr lang="en-IN" dirty="0"/>
          </a:p>
          <a:p>
            <a:endParaRPr lang="en-IN" dirty="0"/>
          </a:p>
        </p:txBody>
      </p:sp>
    </p:spTree>
    <p:extLst>
      <p:ext uri="{BB962C8B-B14F-4D97-AF65-F5344CB8AC3E}">
        <p14:creationId xmlns:p14="http://schemas.microsoft.com/office/powerpoint/2010/main" val="3434004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8C8B-1892-25CD-82A2-78FFFE1A8AC0}"/>
              </a:ext>
            </a:extLst>
          </p:cNvPr>
          <p:cNvSpPr>
            <a:spLocks noGrp="1"/>
          </p:cNvSpPr>
          <p:nvPr>
            <p:ph type="title"/>
          </p:nvPr>
        </p:nvSpPr>
        <p:spPr>
          <a:xfrm>
            <a:off x="2611808" y="808057"/>
            <a:ext cx="7958331" cy="568460"/>
          </a:xfrm>
        </p:spPr>
        <p:txBody>
          <a:bodyPr>
            <a:normAutofit/>
          </a:bodyPr>
          <a:lstStyle/>
          <a:p>
            <a:pPr algn="l"/>
            <a:r>
              <a:rPr lang="en-IN" sz="2000" b="1" dirty="0"/>
              <a:t>(B) </a:t>
            </a:r>
            <a:r>
              <a:rPr lang="en-IN" sz="2000" b="1" u="sng" dirty="0"/>
              <a:t>Customer Engagement Analysis</a:t>
            </a:r>
            <a:endParaRPr lang="en-IN" sz="2000" b="1" dirty="0"/>
          </a:p>
        </p:txBody>
      </p:sp>
      <p:pic>
        <p:nvPicPr>
          <p:cNvPr id="4" name="Content Placeholder 3">
            <a:extLst>
              <a:ext uri="{FF2B5EF4-FFF2-40B4-BE49-F238E27FC236}">
                <a16:creationId xmlns:a16="http://schemas.microsoft.com/office/drawing/2014/main" id="{5EDF047C-49D6-D16B-F025-978CB1298F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0553" y="1474788"/>
            <a:ext cx="7661831" cy="4575175"/>
          </a:xfrm>
          <a:prstGeom prst="rect">
            <a:avLst/>
          </a:prstGeom>
        </p:spPr>
      </p:pic>
    </p:spTree>
    <p:extLst>
      <p:ext uri="{BB962C8B-B14F-4D97-AF65-F5344CB8AC3E}">
        <p14:creationId xmlns:p14="http://schemas.microsoft.com/office/powerpoint/2010/main" val="3967263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A3AA5-4A22-893A-48AC-F1DA9FD818E8}"/>
              </a:ext>
            </a:extLst>
          </p:cNvPr>
          <p:cNvSpPr>
            <a:spLocks noGrp="1"/>
          </p:cNvSpPr>
          <p:nvPr>
            <p:ph type="title"/>
          </p:nvPr>
        </p:nvSpPr>
        <p:spPr>
          <a:xfrm>
            <a:off x="2523318" y="709733"/>
            <a:ext cx="7958331" cy="509467"/>
          </a:xfrm>
        </p:spPr>
        <p:txBody>
          <a:bodyPr>
            <a:normAutofit/>
          </a:bodyPr>
          <a:lstStyle/>
          <a:p>
            <a:pPr algn="l"/>
            <a:r>
              <a:rPr lang="en-IN" sz="2000" b="1" kern="0" dirty="0">
                <a:effectLst/>
                <a:latin typeface="Aptos" panose="020B0004020202020204" pitchFamily="34" charset="0"/>
                <a:ea typeface="Times New Roman" panose="02020603050405020304" pitchFamily="18" charset="0"/>
                <a:cs typeface="Times New Roman" panose="02020603050405020304" pitchFamily="18" charset="0"/>
              </a:rPr>
              <a:t>3.</a:t>
            </a:r>
            <a:r>
              <a:rPr lang="en-IN" sz="2200" b="1" u="sng" kern="0" dirty="0">
                <a:effectLst/>
                <a:latin typeface="Aptos" panose="020B0004020202020204" pitchFamily="34" charset="0"/>
                <a:ea typeface="Times New Roman" panose="02020603050405020304" pitchFamily="18" charset="0"/>
                <a:cs typeface="Times New Roman" panose="02020603050405020304" pitchFamily="18" charset="0"/>
              </a:rPr>
              <a:t>Product Utilization &amp; Retention Analysis</a:t>
            </a:r>
            <a:endParaRPr lang="en-IN" sz="2200" dirty="0"/>
          </a:p>
        </p:txBody>
      </p:sp>
      <p:pic>
        <p:nvPicPr>
          <p:cNvPr id="4" name="Content Placeholder 3">
            <a:extLst>
              <a:ext uri="{FF2B5EF4-FFF2-40B4-BE49-F238E27FC236}">
                <a16:creationId xmlns:a16="http://schemas.microsoft.com/office/drawing/2014/main" id="{63F60A86-5D98-760A-3EA3-EECBCF214A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5295" y="1416050"/>
            <a:ext cx="7750423" cy="4633913"/>
          </a:xfrm>
          <a:prstGeom prst="rect">
            <a:avLst/>
          </a:prstGeom>
        </p:spPr>
      </p:pic>
    </p:spTree>
    <p:extLst>
      <p:ext uri="{BB962C8B-B14F-4D97-AF65-F5344CB8AC3E}">
        <p14:creationId xmlns:p14="http://schemas.microsoft.com/office/powerpoint/2010/main" val="1075937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87E68-765E-551C-ECE2-ED2F6712B725}"/>
              </a:ext>
            </a:extLst>
          </p:cNvPr>
          <p:cNvSpPr>
            <a:spLocks noGrp="1"/>
          </p:cNvSpPr>
          <p:nvPr>
            <p:ph type="title"/>
          </p:nvPr>
        </p:nvSpPr>
        <p:spPr>
          <a:xfrm>
            <a:off x="2611808" y="808057"/>
            <a:ext cx="7958331" cy="656950"/>
          </a:xfrm>
        </p:spPr>
        <p:txBody>
          <a:bodyPr/>
          <a:lstStyle/>
          <a:p>
            <a:pPr algn="l"/>
            <a:r>
              <a:rPr lang="en-US" b="1" dirty="0">
                <a:effectLst>
                  <a:outerShdw blurRad="38100" dist="38100" dir="2700000" algn="tl">
                    <a:srgbClr val="000000">
                      <a:alpha val="43137"/>
                    </a:srgbClr>
                  </a:outerShdw>
                </a:effectLst>
              </a:rPr>
              <a:t>9. Key Findings</a:t>
            </a:r>
            <a:endParaRPr lang="en-IN" b="1" dirty="0">
              <a:effectLst>
                <a:outerShdw blurRad="38100" dist="38100" dir="2700000" algn="tl">
                  <a:srgbClr val="000000">
                    <a:alpha val="43137"/>
                  </a:srgbClr>
                </a:outerShdw>
              </a:effectLst>
            </a:endParaRPr>
          </a:p>
        </p:txBody>
      </p:sp>
      <p:graphicFrame>
        <p:nvGraphicFramePr>
          <p:cNvPr id="5" name="Diagram 4">
            <a:extLst>
              <a:ext uri="{FF2B5EF4-FFF2-40B4-BE49-F238E27FC236}">
                <a16:creationId xmlns:a16="http://schemas.microsoft.com/office/drawing/2014/main" id="{FAD0C580-9A60-74A7-4C33-A00902341910}"/>
              </a:ext>
            </a:extLst>
          </p:cNvPr>
          <p:cNvGraphicFramePr/>
          <p:nvPr>
            <p:extLst>
              <p:ext uri="{D42A27DB-BD31-4B8C-83A1-F6EECF244321}">
                <p14:modId xmlns:p14="http://schemas.microsoft.com/office/powerpoint/2010/main" val="3746177321"/>
              </p:ext>
            </p:extLst>
          </p:nvPr>
        </p:nvGraphicFramePr>
        <p:xfrm>
          <a:off x="2611808" y="1573161"/>
          <a:ext cx="7210618" cy="44767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0063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534AA-0F59-9078-8205-EE6A3361B419}"/>
              </a:ext>
            </a:extLst>
          </p:cNvPr>
          <p:cNvSpPr>
            <a:spLocks noGrp="1"/>
          </p:cNvSpPr>
          <p:nvPr>
            <p:ph type="title"/>
          </p:nvPr>
        </p:nvSpPr>
        <p:spPr/>
        <p:txBody>
          <a:bodyPr/>
          <a:lstStyle/>
          <a:p>
            <a:pPr algn="l"/>
            <a:r>
              <a:rPr lang="en-US" b="1" dirty="0"/>
              <a:t>10</a:t>
            </a:r>
            <a:r>
              <a:rPr lang="en-US" dirty="0"/>
              <a:t>. </a:t>
            </a:r>
            <a:r>
              <a:rPr lang="en-US" b="1" u="sng" dirty="0"/>
              <a:t>Recommendations</a:t>
            </a:r>
            <a:endParaRPr lang="en-IN" b="1" u="sng" dirty="0"/>
          </a:p>
        </p:txBody>
      </p:sp>
      <p:sp>
        <p:nvSpPr>
          <p:cNvPr id="3" name="Content Placeholder 2">
            <a:extLst>
              <a:ext uri="{FF2B5EF4-FFF2-40B4-BE49-F238E27FC236}">
                <a16:creationId xmlns:a16="http://schemas.microsoft.com/office/drawing/2014/main" id="{653CCC5F-9CC7-9CD7-ED7C-0F654584FEB0}"/>
              </a:ext>
            </a:extLst>
          </p:cNvPr>
          <p:cNvSpPr>
            <a:spLocks noGrp="1"/>
          </p:cNvSpPr>
          <p:nvPr>
            <p:ph idx="1"/>
          </p:nvPr>
        </p:nvSpPr>
        <p:spPr>
          <a:xfrm>
            <a:off x="2449135" y="1776812"/>
            <a:ext cx="7796540" cy="4771471"/>
          </a:xfrm>
        </p:spPr>
        <p:txBody>
          <a:bodyPr>
            <a:normAutofit fontScale="85000" lnSpcReduction="20000"/>
          </a:bodyPr>
          <a:lstStyle/>
          <a:p>
            <a:pPr algn="just">
              <a:lnSpc>
                <a:spcPct val="107000"/>
              </a:lnSpc>
              <a:spcAft>
                <a:spcPts val="800"/>
              </a:spcAft>
              <a:buNone/>
            </a:pPr>
            <a:r>
              <a:rPr lang="en-IN" sz="2100" b="1" kern="100" dirty="0">
                <a:effectLst/>
                <a:latin typeface="Aptos" panose="020B0004020202020204" pitchFamily="34" charset="0"/>
                <a:ea typeface="Aptos" panose="020B0004020202020204" pitchFamily="34" charset="0"/>
                <a:cs typeface="Times New Roman" panose="02020603050405020304" pitchFamily="18" charset="0"/>
              </a:rPr>
              <a:t>1</a:t>
            </a:r>
            <a:r>
              <a:rPr lang="en-IN" sz="2100" kern="100" dirty="0">
                <a:effectLst/>
                <a:latin typeface="Aptos" panose="020B0004020202020204" pitchFamily="34" charset="0"/>
                <a:ea typeface="Aptos" panose="020B0004020202020204" pitchFamily="34" charset="0"/>
                <a:cs typeface="Times New Roman" panose="02020603050405020304" pitchFamily="18" charset="0"/>
              </a:rPr>
              <a:t>.Increase customer engagement programmes by developing personalised communication campaigns targeting inactive customers.</a:t>
            </a:r>
          </a:p>
          <a:p>
            <a:pPr algn="just">
              <a:lnSpc>
                <a:spcPct val="107000"/>
              </a:lnSpc>
              <a:spcAft>
                <a:spcPts val="800"/>
              </a:spcAft>
              <a:buNone/>
            </a:pPr>
            <a:r>
              <a:rPr lang="en-IN" sz="2100" b="1" kern="100" dirty="0">
                <a:effectLst/>
                <a:latin typeface="Aptos" panose="020B0004020202020204" pitchFamily="34" charset="0"/>
                <a:ea typeface="Aptos" panose="020B0004020202020204" pitchFamily="34" charset="0"/>
                <a:cs typeface="Times New Roman" panose="02020603050405020304" pitchFamily="18" charset="0"/>
              </a:rPr>
              <a:t> 2</a:t>
            </a:r>
            <a:r>
              <a:rPr lang="en-IN" sz="2100" kern="100" dirty="0">
                <a:effectLst/>
                <a:latin typeface="Aptos" panose="020B0004020202020204" pitchFamily="34" charset="0"/>
                <a:ea typeface="Aptos" panose="020B0004020202020204" pitchFamily="34" charset="0"/>
                <a:cs typeface="Times New Roman" panose="02020603050405020304" pitchFamily="18" charset="0"/>
              </a:rPr>
              <a:t>. Encourage the single-product-customers to adopt additional products.</a:t>
            </a:r>
          </a:p>
          <a:p>
            <a:pPr algn="just">
              <a:lnSpc>
                <a:spcPct val="107000"/>
              </a:lnSpc>
              <a:spcAft>
                <a:spcPts val="800"/>
              </a:spcAft>
              <a:buNone/>
            </a:pPr>
            <a:r>
              <a:rPr lang="en-IN" sz="2100" b="1" kern="100" dirty="0">
                <a:effectLst/>
                <a:latin typeface="Aptos" panose="020B0004020202020204" pitchFamily="34" charset="0"/>
                <a:ea typeface="Aptos" panose="020B0004020202020204" pitchFamily="34" charset="0"/>
                <a:cs typeface="Times New Roman" panose="02020603050405020304" pitchFamily="18" charset="0"/>
              </a:rPr>
              <a:t>3</a:t>
            </a:r>
            <a:r>
              <a:rPr lang="en-IN" sz="2100" kern="100" dirty="0">
                <a:effectLst/>
                <a:latin typeface="Aptos" panose="020B0004020202020204" pitchFamily="34" charset="0"/>
                <a:ea typeface="Aptos" panose="020B0004020202020204" pitchFamily="34" charset="0"/>
                <a:cs typeface="Times New Roman" panose="02020603050405020304" pitchFamily="18" charset="0"/>
              </a:rPr>
              <a:t>. Since Germany and France contribute the high churn volumes, region- specific retention strategies should be introduced. To identify market-specific issues through customer feedback analysis should be conducted.</a:t>
            </a:r>
          </a:p>
          <a:p>
            <a:pPr algn="just">
              <a:lnSpc>
                <a:spcPct val="107000"/>
              </a:lnSpc>
              <a:spcAft>
                <a:spcPts val="800"/>
              </a:spcAft>
              <a:buNone/>
            </a:pPr>
            <a:r>
              <a:rPr lang="en-IN" sz="2100" b="1" kern="100" dirty="0">
                <a:effectLst/>
                <a:latin typeface="Aptos" panose="020B0004020202020204" pitchFamily="34" charset="0"/>
                <a:ea typeface="Aptos" panose="020B0004020202020204" pitchFamily="34" charset="0"/>
                <a:cs typeface="Times New Roman" panose="02020603050405020304" pitchFamily="18" charset="0"/>
              </a:rPr>
              <a:t>4.</a:t>
            </a:r>
            <a:r>
              <a:rPr lang="en-IN" sz="2100" kern="100" dirty="0">
                <a:effectLst/>
                <a:latin typeface="Aptos" panose="020B0004020202020204" pitchFamily="34" charset="0"/>
                <a:ea typeface="Aptos" panose="020B0004020202020204" pitchFamily="34" charset="0"/>
                <a:cs typeface="Times New Roman" panose="02020603050405020304" pitchFamily="18" charset="0"/>
              </a:rPr>
              <a:t> More focus on high value with high account balance customers by implementing retention programs and by offering personalised financial consultations and loyalty incentives to prevent churn.</a:t>
            </a:r>
          </a:p>
          <a:p>
            <a:pPr algn="just">
              <a:lnSpc>
                <a:spcPct val="107000"/>
              </a:lnSpc>
              <a:spcAft>
                <a:spcPts val="800"/>
              </a:spcAft>
              <a:buNone/>
            </a:pPr>
            <a:r>
              <a:rPr lang="en-IN" sz="2100" b="1" kern="100" dirty="0">
                <a:effectLst/>
                <a:latin typeface="Aptos" panose="020B0004020202020204" pitchFamily="34" charset="0"/>
                <a:ea typeface="Aptos" panose="020B0004020202020204" pitchFamily="34" charset="0"/>
                <a:cs typeface="Times New Roman" panose="02020603050405020304" pitchFamily="18" charset="0"/>
              </a:rPr>
              <a:t>5</a:t>
            </a:r>
            <a:r>
              <a:rPr lang="en-IN" sz="2100" kern="100" dirty="0">
                <a:effectLst/>
                <a:latin typeface="Aptos" panose="020B0004020202020204" pitchFamily="34" charset="0"/>
                <a:ea typeface="Aptos" panose="020B0004020202020204" pitchFamily="34" charset="0"/>
                <a:cs typeface="Times New Roman" panose="02020603050405020304" pitchFamily="18" charset="0"/>
              </a:rPr>
              <a:t>. Improve customer experience by enhancing digital banking services , complaint resolution process and customer support responsiveness.</a:t>
            </a:r>
          </a:p>
          <a:p>
            <a:pPr algn="just">
              <a:lnSpc>
                <a:spcPct val="107000"/>
              </a:lnSpc>
              <a:spcAft>
                <a:spcPts val="800"/>
              </a:spcAft>
              <a:buNone/>
            </a:pPr>
            <a:r>
              <a:rPr lang="en-IN" sz="20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37443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527AD-9874-2C28-DF76-502B028C255D}"/>
              </a:ext>
            </a:extLst>
          </p:cNvPr>
          <p:cNvSpPr>
            <a:spLocks noGrp="1"/>
          </p:cNvSpPr>
          <p:nvPr>
            <p:ph type="title"/>
          </p:nvPr>
        </p:nvSpPr>
        <p:spPr>
          <a:xfrm>
            <a:off x="2611808" y="808057"/>
            <a:ext cx="7958331" cy="647118"/>
          </a:xfrm>
        </p:spPr>
        <p:txBody>
          <a:bodyPr/>
          <a:lstStyle/>
          <a:p>
            <a:pPr algn="l"/>
            <a:r>
              <a:rPr lang="en-US" b="1" dirty="0">
                <a:effectLst>
                  <a:outerShdw blurRad="38100" dist="38100" dir="2700000" algn="tl">
                    <a:srgbClr val="000000">
                      <a:alpha val="43137"/>
                    </a:srgbClr>
                  </a:outerShdw>
                </a:effectLst>
              </a:rPr>
              <a:t>10. Conclusion</a:t>
            </a:r>
            <a:endParaRPr lang="en-IN" b="1" dirty="0">
              <a:effectLst>
                <a:outerShdw blurRad="38100" dist="38100" dir="2700000" algn="tl">
                  <a:srgbClr val="000000">
                    <a:alpha val="43137"/>
                  </a:srgbClr>
                </a:outerShdw>
              </a:effectLst>
            </a:endParaRPr>
          </a:p>
        </p:txBody>
      </p:sp>
      <p:graphicFrame>
        <p:nvGraphicFramePr>
          <p:cNvPr id="5" name="Diagram 4">
            <a:extLst>
              <a:ext uri="{FF2B5EF4-FFF2-40B4-BE49-F238E27FC236}">
                <a16:creationId xmlns:a16="http://schemas.microsoft.com/office/drawing/2014/main" id="{1829B8EC-63E3-C7AA-B7B9-9DE708E9CE80}"/>
              </a:ext>
            </a:extLst>
          </p:cNvPr>
          <p:cNvGraphicFramePr/>
          <p:nvPr>
            <p:extLst>
              <p:ext uri="{D42A27DB-BD31-4B8C-83A1-F6EECF244321}">
                <p14:modId xmlns:p14="http://schemas.microsoft.com/office/powerpoint/2010/main" val="263387598"/>
              </p:ext>
            </p:extLst>
          </p:nvPr>
        </p:nvGraphicFramePr>
        <p:xfrm>
          <a:off x="1841910" y="1563329"/>
          <a:ext cx="8128000" cy="44866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2655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{12543CFE-CBE2-4E16-96B5-481A869B9375}TF37254b02-f5b5-44b0-803d-e6af9466a024d8712c6d-28d3f990fef7</Template>
  <TotalTime>146</TotalTime>
  <Words>566</Words>
  <Application>Microsoft Office PowerPoint</Application>
  <PresentationFormat>Widescreen</PresentationFormat>
  <Paragraphs>103</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vt:lpstr>
      <vt:lpstr>Arial</vt:lpstr>
      <vt:lpstr>MS Shell Dlg 2</vt:lpstr>
      <vt:lpstr>Roboto</vt:lpstr>
      <vt:lpstr>Roboto Slab</vt:lpstr>
      <vt:lpstr>Tahoma</vt:lpstr>
      <vt:lpstr>Times New Roman</vt:lpstr>
      <vt:lpstr>Wingdings</vt:lpstr>
      <vt:lpstr>Wingdings 3</vt:lpstr>
      <vt:lpstr>Madison</vt:lpstr>
      <vt:lpstr>Customer Engagement &amp; Product Utilization Analytics for Retention Strategy </vt:lpstr>
      <vt:lpstr>1. Introduction</vt:lpstr>
      <vt:lpstr>2. Churn Challenge</vt:lpstr>
      <vt:lpstr>3.Objectives</vt:lpstr>
      <vt:lpstr>4.Dataset Overview</vt:lpstr>
      <vt:lpstr>PowerPoint Presentation</vt:lpstr>
      <vt:lpstr>6.Excel Analysis</vt:lpstr>
      <vt:lpstr>7.SQL Analysis</vt:lpstr>
      <vt:lpstr>PowerPoint Presentation</vt:lpstr>
      <vt:lpstr>8.Dashboard</vt:lpstr>
      <vt:lpstr>(B) Customer Engagement Analysis</vt:lpstr>
      <vt:lpstr>3.Product Utilization &amp; Retention Analysis</vt:lpstr>
      <vt:lpstr>9. Key Findings</vt:lpstr>
      <vt:lpstr>10. Recommendations</vt:lpstr>
      <vt:lpstr>10.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PRASHANSHA KUMARI</dc:creator>
  <cp:lastModifiedBy>PRASHANSHA KUMARI</cp:lastModifiedBy>
  <cp:revision>1</cp:revision>
  <dcterms:created xsi:type="dcterms:W3CDTF">2026-06-04T11:02:50Z</dcterms:created>
  <dcterms:modified xsi:type="dcterms:W3CDTF">2026-06-09T15:23:11Z</dcterms:modified>
</cp:coreProperties>
</file>